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84048"/>
            <a:ext cx="10728655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57607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●  HACKDAY 1.0 SUBMISSION  ·  ORGANIZED BY TEAM DECODEP  ·  CLEANTECH &amp; AI</a:t>
            </a:r>
          </a:p>
          <a:p>
            <a:pPr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Outfit"/>
              </a:rPr>
              <a:t>CircularMatch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38BDF8"/>
                </a:solidFill>
                <a:latin typeface="Outfit"/>
              </a:rPr>
              <a:t>AI-Assisted Industrial Material Qualification &amp; Matching Platform</a:t>
            </a:r>
          </a:p>
          <a:p>
            <a:r>
              <a:rPr sz="1000" b="0">
                <a:solidFill>
                  <a:srgbClr val="E2E8F0"/>
                </a:solidFill>
                <a:latin typeface="Outfit"/>
              </a:rPr>
              <a:t>Standardizing plain-language industrial waste into verified Material Passports and matching them against buyer acceptance criteria with explainable AI &amp; verifiable SEBI BRSR compliance.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2816352" cy="105156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Outfit"/>
              </a:rPr>
              <a:t>💬 Plain-Language AI Parser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Gemini 2.0 structures plain text into schema-validated JSON records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75888" y="2606040"/>
            <a:ext cx="2816352" cy="105156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8BDF8"/>
                </a:solidFill>
                <a:latin typeface="Outfit"/>
              </a:rPr>
              <a:t>📋 Verifiable Material Passports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Tracks grade, lot location, contamination, evidence states &amp; gates.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2816352" cy="105156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Outfit"/>
              </a:rPr>
              <a:t>🎯 6-D Deterministic Engine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Mathematically matches lots against buyer specs with 100%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5888" y="3749039"/>
            <a:ext cx="2816352" cy="105156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8BDF8"/>
                </a:solidFill>
                <a:latin typeface="Outfit"/>
              </a:rPr>
              <a:t>⚖️ SEBI BRSR &amp; EPR Trail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Generates un-bypassable statutory chain-of-custody audit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5760720" cy="1371600"/>
          </a:xfrm>
          <a:prstGeom prst="roundRect">
            <a:avLst/>
          </a:prstGeom>
          <a:solidFill>
            <a:srgbClr val="0E152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🏆  OFFICIAL HACKATHON CREDENTIALS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Outfit"/>
              </a:rPr>
              <a:t>Team / Creator: </a:t>
            </a:r>
            <a:r>
              <a:rPr sz="950" b="1">
                <a:solidFill>
                  <a:srgbClr val="FFFFFF"/>
                </a:solidFill>
                <a:latin typeface="Outfit"/>
              </a:rPr>
              <a:t>Solo Levelling — Shivansh Gupta  </a:t>
            </a:r>
            <a:r>
              <a:rPr sz="900" b="0">
                <a:solidFill>
                  <a:srgbClr val="94A3B8"/>
                </a:solidFill>
                <a:latin typeface="Outfit"/>
              </a:rPr>
              <a:t>|  Track: </a:t>
            </a:r>
            <a:r>
              <a:rPr sz="900" b="0">
                <a:solidFill>
                  <a:srgbClr val="38BDF8"/>
                </a:solidFill>
                <a:latin typeface="Outfit"/>
              </a:rPr>
              <a:t>Circularity &amp; CleanTech AI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Outfit"/>
              </a:rPr>
              <a:t>GitHub Repository: </a:t>
            </a:r>
            <a:r>
              <a:rPr sz="900" b="1">
                <a:solidFill>
                  <a:srgbClr val="38BDF8"/>
                </a:solidFill>
                <a:latin typeface="Outfit"/>
              </a:rPr>
              <a:t>github.com/shivanshguptaa070-del/circularmatch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Outfit"/>
              </a:rPr>
              <a:t>Live Demonstration: </a:t>
            </a:r>
            <a:r>
              <a:rPr sz="900" b="1">
                <a:solidFill>
                  <a:srgbClr val="34D399"/>
                </a:solidFill>
                <a:latin typeface="Outfit"/>
              </a:rPr>
              <a:t>localhost:5173/dashboard?demo=seller</a:t>
            </a:r>
            <a:r>
              <a:rPr sz="850" b="0">
                <a:solidFill>
                  <a:srgbClr val="E2E8F0"/>
                </a:solidFill>
                <a:latin typeface="Outfit"/>
              </a:rPr>
              <a:t>  (Seller / Buyer / Admin)</a:t>
            </a:r>
          </a:p>
          <a:p>
            <a:r>
              <a:rPr sz="850" b="0">
                <a:solidFill>
                  <a:srgbClr val="94A3B8"/>
                </a:solidFill>
                <a:latin typeface="Outfit"/>
              </a:rPr>
              <a:t>Production Stack: React 18 + TypeScript + FastAPI + Supabase PostgreSQL + Google Gemini 2.0 Flash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594360"/>
            <a:ext cx="4693615" cy="365760"/>
          </a:xfrm>
          <a:prstGeom prst="roundRect">
            <a:avLst/>
          </a:prstGeom>
          <a:solidFill>
            <a:srgbClr val="0E1526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Outfit"/>
              </a:rPr>
              <a:t>● app.circularmatch.in · Delhi NCR Secondary Material Intelligence</a:t>
            </a:r>
          </a:p>
        </p:txBody>
      </p:sp>
      <p:pic>
        <p:nvPicPr>
          <p:cNvPr id="11" name="Picture 10" descr="slide1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024128"/>
            <a:ext cx="4693615" cy="293350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766560" y="4069080"/>
            <a:ext cx="4693615" cy="233172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38BDF8"/>
                </a:solidFill>
                <a:latin typeface="Outfit"/>
              </a:rPr>
              <a:t>⚡  CORE PLATFORM VALUE METRICS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FB7185"/>
                </a:solidFill>
                <a:latin typeface="Outfit"/>
              </a:rPr>
              <a:t>30–60% Gate Rejection Rate Eliminated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E2E8F0"/>
                </a:solidFill>
                <a:latin typeface="Outfit"/>
              </a:rPr>
              <a:t>Pre-qualified material specifications eliminate gate turn-backs and 100% freight losses.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100% Verifiable BRSR Compliance Trail</a:t>
            </a: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E2E8F0"/>
                </a:solidFill>
                <a:latin typeface="Outfit"/>
              </a:rPr>
              <a:t>Replaces informal broker slips with digital chain-of-custody for statutory SEBI audits.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FBBF24"/>
                </a:solidFill>
                <a:latin typeface="Outfit"/>
              </a:rPr>
              <a:t>&lt; 50ms Deterministic Scoring with Explainable AI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Deterministic calculations paired with Gemini plain-language justifications (strengths, risks).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dissolve/>
      </p:transition>
    </mc:Choice>
    <mc:Fallback>
      <p:transition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8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1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4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3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63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●  SLIDE 1 OF 7 — PROBLEM STATEMENT</a:t>
            </a:r>
          </a:p>
          <a:p>
            <a:pPr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Outfit"/>
              </a:rPr>
              <a:t>India's ₹80,000 Cr industrial waste market runs on WhatsApp, phone calls &amp; paper receipts.</a:t>
            </a:r>
          </a:p>
          <a:p>
            <a:r>
              <a:rPr sz="1200" b="0">
                <a:solidFill>
                  <a:srgbClr val="38BDF8"/>
                </a:solidFill>
                <a:latin typeface="Outfit"/>
              </a:rPr>
              <a:t>The real problem is not discovery. It is qualification.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276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34D399"/>
                </a:solidFill>
                <a:latin typeface="Outfit"/>
              </a:rPr>
              <a:t>♻ CircularMatch  </a:t>
            </a:r>
            <a:r>
              <a:rPr sz="900" b="0">
                <a:solidFill>
                  <a:srgbClr val="94A3B8"/>
                </a:solidFill>
                <a:latin typeface="Outfit"/>
              </a:rPr>
              <a:t>|  HACKDAY 1.0  |  Solo Levelling — Shivansh Gupta  |  github.com/shivanshguptaa070-del/circularmatch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393192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B7185"/>
                </a:solidFill>
                <a:latin typeface="Outfit"/>
              </a:rPr>
              <a:t>🚫  30–60% Rejected at the Gate</a:t>
            </a:r>
          </a:p>
          <a:p>
            <a:pPr>
              <a:spcAft>
                <a:spcPts val="1200"/>
              </a:spcAft>
            </a:pPr>
            <a:r>
              <a:rPr sz="1000" b="0">
                <a:solidFill>
                  <a:srgbClr val="E2E8F0"/>
                </a:solidFill>
                <a:latin typeface="Outfit"/>
              </a:rPr>
              <a:t>Industrial buyers reject 30–60% of material upon physical arrival — wrong grade, mismatched technical specs, or undisclosed contamination causing entire truckloads to turn back at 100% freight loss.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B7185"/>
                </a:solidFill>
                <a:latin typeface="Outfit"/>
              </a:rPr>
              <a:t>📜  Mandatory BRSR with Zero Documentation</a:t>
            </a:r>
          </a:p>
          <a:p>
            <a:pPr>
              <a:spcAft>
                <a:spcPts val="1200"/>
              </a:spcAft>
            </a:pPr>
            <a:r>
              <a:rPr sz="1000" b="0">
                <a:solidFill>
                  <a:srgbClr val="E2E8F0"/>
                </a:solidFill>
                <a:latin typeface="Outfit"/>
              </a:rPr>
              <a:t>India's SEBI now legally mandates top 1,000 listed companies prove waste recycling in annual BRSR audits — but factories currently have zero digital documentation.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B7185"/>
                </a:solidFill>
                <a:latin typeface="Outfit"/>
              </a:rPr>
              <a:t>⚖️  Informal Brokers = Direct Legal Liability</a:t>
            </a:r>
          </a:p>
          <a:p>
            <a:r>
              <a:rPr sz="1000" b="0">
                <a:solidFill>
                  <a:srgbClr val="E2E8F0"/>
                </a:solidFill>
                <a:latin typeface="Outfit"/>
              </a:rPr>
              <a:t>Brokers move material fast but produce no compliant paper trail — creating direct regulatory liability for manufacturers filing statutory disclosures with SEBI.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715000"/>
            <a:ext cx="10728655" cy="502920"/>
          </a:xfrm>
          <a:prstGeom prst="roundRect">
            <a:avLst/>
          </a:prstGeom>
          <a:solidFill>
            <a:srgbClr val="0A1E16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Outfit"/>
              </a:rPr>
              <a:t>Bottom line: Factories have material. Buyers have requirements. Nobody can prove the material actually meets them.</a:t>
            </a:r>
          </a:p>
        </p:txBody>
      </p:sp>
      <p:pic>
        <p:nvPicPr>
          <p:cNvPr id="7" name="Picture 6" descr="slide1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dissolve/>
      </p:transition>
    </mc:Choice>
    <mc:Fallback>
      <p:transition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8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●  SLIDE 2 OF 7 — PROPOSED SOLUTION</a:t>
            </a:r>
          </a:p>
          <a:p>
            <a:pPr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Outfit"/>
              </a:rPr>
              <a:t>CircularMatch — AI-Assisted Industrial Material Qualification &amp; Matching</a:t>
            </a:r>
          </a:p>
          <a:p>
            <a:r>
              <a:rPr sz="1200" b="0">
                <a:solidFill>
                  <a:srgbClr val="38BDF8"/>
                </a:solidFill>
                <a:latin typeface="Outfit"/>
              </a:rPr>
              <a:t>Standardizing plain-language waste into verified Material Passports &amp; explainable matches.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276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34D399"/>
                </a:solidFill>
                <a:latin typeface="Outfit"/>
              </a:rPr>
              <a:t>♻ CircularMatch  </a:t>
            </a:r>
            <a:r>
              <a:rPr sz="900" b="0">
                <a:solidFill>
                  <a:srgbClr val="94A3B8"/>
                </a:solidFill>
                <a:latin typeface="Outfit"/>
              </a:rPr>
              <a:t>|  HACKDAY 1.0  |  Solo Levelling — Shivansh Gupta  |  github.com/shivanshguptaa070-del/circularmatch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60604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34D399"/>
                </a:solidFill>
                <a:latin typeface="Outfit"/>
              </a:rPr>
              <a:t>💬 Plain Language Input</a:t>
            </a:r>
          </a:p>
          <a:p>
            <a:r>
              <a:rPr sz="950" b="0">
                <a:solidFill>
                  <a:srgbClr val="E2E8F0"/>
                </a:solidFill>
                <a:latin typeface="Outfit"/>
              </a:rPr>
              <a:t>Supplier describes waste naturally — Gemini AI structures it instantly into a standardized, schema-validated record.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60604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38BDF8"/>
                </a:solidFill>
                <a:latin typeface="Outfit"/>
              </a:rPr>
              <a:t>📋 Material Passport</a:t>
            </a:r>
          </a:p>
          <a:p>
            <a:r>
              <a:rPr sz="950" b="0">
                <a:solidFill>
                  <a:srgbClr val="E2E8F0"/>
                </a:solidFill>
                <a:latin typeface="Outfit"/>
              </a:rPr>
              <a:t>Every material gets a passport tracking grade, quantity, lot location, evidence state, and eligibility gates.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71800"/>
            <a:ext cx="260604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34D399"/>
                </a:solidFill>
                <a:latin typeface="Outfit"/>
              </a:rPr>
              <a:t>🎯 6-Dimension Engine</a:t>
            </a:r>
          </a:p>
          <a:p>
            <a:r>
              <a:rPr sz="950" b="0">
                <a:solidFill>
                  <a:srgbClr val="E2E8F0"/>
                </a:solidFill>
                <a:latin typeface="Outfit"/>
              </a:rPr>
              <a:t>Proprietary matching algorithm scores lots against exact buyer acceptance criteria deterministically.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971800"/>
            <a:ext cx="2606040" cy="12344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38BDF8"/>
                </a:solidFill>
                <a:latin typeface="Outfit"/>
              </a:rPr>
              <a:t>💡 Explainable AI Reasoning</a:t>
            </a:r>
          </a:p>
          <a:p>
            <a:r>
              <a:rPr sz="950" b="0">
                <a:solidFill>
                  <a:srgbClr val="E2E8F0"/>
                </a:solidFill>
                <a:latin typeface="Outfit"/>
              </a:rPr>
              <a:t>Gemini generates readable 'Why this match?' justifications detailing strengths, risks, and recommendations.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5303520" cy="1783080"/>
          </a:xfrm>
          <a:prstGeom prst="roundRect">
            <a:avLst/>
          </a:prstGeom>
          <a:solidFill>
            <a:srgbClr val="0E152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46304" rIns="146304" bIns="146304" rtlCol="0" anchor="ctr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Outfit"/>
              </a:rPr>
              <a:t>THE CORE PLATFORM FLOW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38BDF8"/>
                </a:solidFill>
                <a:latin typeface="Outfit"/>
              </a:rPr>
              <a:t>1. Plain Language Input</a:t>
            </a:r>
            <a:r>
              <a:rPr sz="950" b="0">
                <a:solidFill>
                  <a:srgbClr val="E2E8F0"/>
                </a:solidFill>
                <a:latin typeface="Outfit"/>
              </a:rPr>
              <a:t> — Generator speaks or types naturally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38BDF8"/>
                </a:solidFill>
                <a:latin typeface="Outfit"/>
              </a:rPr>
              <a:t>2. AI Extraction</a:t>
            </a:r>
            <a:r>
              <a:rPr sz="950" b="0">
                <a:solidFill>
                  <a:srgbClr val="E2E8F0"/>
                </a:solidFill>
                <a:latin typeface="Outfit"/>
              </a:rPr>
              <a:t> — Structured JSON schema material record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38BDF8"/>
                </a:solidFill>
                <a:latin typeface="Outfit"/>
              </a:rPr>
              <a:t>3. Material Passport</a:t>
            </a:r>
            <a:r>
              <a:rPr sz="950" b="0">
                <a:solidFill>
                  <a:srgbClr val="E2E8F0"/>
                </a:solidFill>
                <a:latin typeface="Outfit"/>
              </a:rPr>
              <a:t> — Real-time digital evidence states &amp; lot verification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38BDF8"/>
                </a:solidFill>
                <a:latin typeface="Outfit"/>
              </a:rPr>
              <a:t>4. 6-Factor Matching</a:t>
            </a:r>
            <a:r>
              <a:rPr sz="950" b="0">
                <a:solidFill>
                  <a:srgbClr val="E2E8F0"/>
                </a:solidFill>
                <a:latin typeface="Outfit"/>
              </a:rPr>
              <a:t> — Deterministic evaluation against buyer specs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38BDF8"/>
                </a:solidFill>
                <a:latin typeface="Outfit"/>
              </a:rPr>
              <a:t>5. Ranked Results</a:t>
            </a:r>
            <a:r>
              <a:rPr sz="950" b="0">
                <a:solidFill>
                  <a:srgbClr val="E2E8F0"/>
                </a:solidFill>
                <a:latin typeface="Outfit"/>
              </a:rPr>
              <a:t> — Gemini explainable reasoning justifications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38BDF8"/>
                </a:solidFill>
                <a:latin typeface="Outfit"/>
              </a:rPr>
              <a:t>6. Chain-of-Custody</a:t>
            </a:r>
            <a:r>
              <a:rPr sz="950" b="0">
                <a:solidFill>
                  <a:srgbClr val="E2E8F0"/>
                </a:solidFill>
                <a:latin typeface="Outfit"/>
              </a:rPr>
              <a:t> — Sample request → offer → verified shipment</a:t>
            </a:r>
          </a:p>
        </p:txBody>
      </p:sp>
      <p:pic>
        <p:nvPicPr>
          <p:cNvPr id="10" name="Picture 9" descr="slide2_pass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dissolve/>
      </p:transition>
    </mc:Choice>
    <mc:Fallback>
      <p:transition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8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1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4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●  SLIDE 3 OF 7 — TARGET USERS</a:t>
            </a:r>
          </a:p>
          <a:p>
            <a:pPr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Outfit"/>
              </a:rPr>
              <a:t>Two sides. One regulatory &amp; financial imperative.</a:t>
            </a:r>
          </a:p>
          <a:p>
            <a:r>
              <a:rPr sz="1200" b="0">
                <a:solidFill>
                  <a:srgbClr val="38BDF8"/>
                </a:solidFill>
                <a:latin typeface="Outfit"/>
              </a:rPr>
              <a:t>Solving compliance failure for sellers and gate rejection financial loss for buyers.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276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34D399"/>
                </a:solidFill>
                <a:latin typeface="Outfit"/>
              </a:rPr>
              <a:t>♻ CircularMatch  </a:t>
            </a:r>
            <a:r>
              <a:rPr sz="900" b="0">
                <a:solidFill>
                  <a:srgbClr val="94A3B8"/>
                </a:solidFill>
                <a:latin typeface="Outfit"/>
              </a:rPr>
              <a:t>|  HACKDAY 1.0  |  Solo Levelling — Shivansh Gupta  |  github.com/shivanshguptaa070-del/circularmatch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1920240"/>
          </a:xfrm>
          <a:prstGeom prst="roundRect">
            <a:avLst/>
          </a:prstGeom>
          <a:solidFill>
            <a:srgbClr val="111A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Outfit"/>
              </a:rPr>
              <a:t>🏭  SUPPLIER SIDE: EHS / Operations Manager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Outfit"/>
              </a:rPr>
              <a:t>Profile: </a:t>
            </a:r>
            <a:r>
              <a:rPr sz="950" b="0">
                <a:solidFill>
                  <a:srgbClr val="E2E8F0"/>
                </a:solidFill>
                <a:latin typeface="Outfit"/>
              </a:rPr>
              <a:t>BSE/NSE-listed factory in Noida generating recurring industrial scraps (PET, cotton, corrugated) with mandatory SEBI BRSR Core filing obligations.</a:t>
            </a:r>
          </a:p>
          <a:p>
            <a:r>
              <a:rPr sz="950" b="1">
                <a:solidFill>
                  <a:srgbClr val="FB7185"/>
                </a:solidFill>
                <a:latin typeface="Outfit"/>
              </a:rPr>
              <a:t>Pain Point: </a:t>
            </a:r>
            <a:r>
              <a:rPr sz="950" b="0">
                <a:solidFill>
                  <a:srgbClr val="E2E8F0"/>
                </a:solidFill>
                <a:latin typeface="Outfit"/>
              </a:rPr>
              <a:t>BRSR auditors reject informal broker receipts. They need verifiable digital chain-of-custody for statutory audits — currently zero digital records exist.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303520" cy="1874519"/>
          </a:xfrm>
          <a:prstGeom prst="roundRect">
            <a:avLst/>
          </a:prstGeom>
          <a:solidFill>
            <a:srgbClr val="111A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Outfit"/>
              </a:rPr>
              <a:t>🔄  BUYER SIDE: Procurement / Sourcing Manager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Outfit"/>
              </a:rPr>
              <a:t>Profile: </a:t>
            </a:r>
            <a:r>
              <a:rPr sz="950" b="0">
                <a:solidFill>
                  <a:srgbClr val="E2E8F0"/>
                </a:solidFill>
                <a:latin typeface="Outfit"/>
              </a:rPr>
              <a:t>Sourcing manager at registered recyclers or brand owners building EPR compliance supply chains needing pre-qualified, spec-matched material lots.</a:t>
            </a:r>
          </a:p>
          <a:p>
            <a:r>
              <a:rPr sz="950" b="1">
                <a:solidFill>
                  <a:srgbClr val="FB7185"/>
                </a:solidFill>
                <a:latin typeface="Outfit"/>
              </a:rPr>
              <a:t>Pain Point: </a:t>
            </a:r>
            <a:r>
              <a:rPr sz="950" b="0">
                <a:solidFill>
                  <a:srgbClr val="E2E8F0"/>
                </a:solidFill>
                <a:latin typeface="Outfit"/>
              </a:rPr>
              <a:t>30–60% gate rejection rate on unverified lots. Every rejected truckload incurs 100% freight cost with zero usable material received.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715000"/>
            <a:ext cx="10728655" cy="502920"/>
          </a:xfrm>
          <a:prstGeom prst="roundRect">
            <a:avLst/>
          </a:prstGeom>
          <a:solidFill>
            <a:srgbClr val="0A1E16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Outfit"/>
              </a:rPr>
              <a:t>Why these two: The supplier has a regulatory mandate making documentation non-optional. The buyer has a financial loss making pre-qualification worth paying for.</a:t>
            </a:r>
          </a:p>
        </p:txBody>
      </p:sp>
      <p:pic>
        <p:nvPicPr>
          <p:cNvPr id="8" name="Picture 7" descr="slide3_dual_worksp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3804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dissolve/>
      </p:transition>
    </mc:Choice>
    <mc:Fallback>
      <p:transition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8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1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●  SLIDE 4 OF 7 — TECHNICAL APPROACH</a:t>
            </a:r>
          </a:p>
          <a:p>
            <a:pPr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Outfit"/>
              </a:rPr>
              <a:t>Production Stack with Explainable AI &amp; Deterministic Matching Engine</a:t>
            </a:r>
          </a:p>
          <a:p>
            <a:r>
              <a:rPr sz="1200" b="0">
                <a:solidFill>
                  <a:srgbClr val="38BDF8"/>
                </a:solidFill>
                <a:latin typeface="Outfit"/>
              </a:rPr>
              <a:t>FastAPI + React 18 + Supabase PostgreSQL + Google Gemini 2.0 Flash with Rule-based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276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34D399"/>
                </a:solidFill>
                <a:latin typeface="Outfit"/>
              </a:rPr>
              <a:t>♻ CircularMatch  </a:t>
            </a:r>
            <a:r>
              <a:rPr sz="900" b="0">
                <a:solidFill>
                  <a:srgbClr val="94A3B8"/>
                </a:solidFill>
                <a:latin typeface="Outfit"/>
              </a:rPr>
              <a:t>|  HACKDAY 1.0  |  Solo Levelling — Shivansh Gupta  |  github.com/shivanshguptaa070-del/circularmatch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4D399"/>
                          </a:solidFill>
                          <a:latin typeface="Outfit"/>
                        </a:rPr>
                        <a:t>LAYER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4D399"/>
                          </a:solidFill>
                          <a:latin typeface="Outfit"/>
                        </a:rPr>
                        <a:t>TECHNOLOGY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4D399"/>
                          </a:solidFill>
                          <a:latin typeface="Outfit"/>
                        </a:rPr>
                        <a:t>ROLE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8BDF8"/>
                          </a:solidFill>
                          <a:latin typeface="Outfit"/>
                        </a:rPr>
                        <a:t>Frontend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React 18 + TypeScript + Vite + Tailwind CSS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94A3B8"/>
                          </a:solidFill>
                          <a:latin typeface="Outfit"/>
                        </a:rPr>
                        <a:t>Component architecture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8BDF8"/>
                          </a:solidFill>
                          <a:latin typeface="Outfit"/>
                        </a:rPr>
                        <a:t>Backend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FastAPI (Python) + Uvicorn + Pydantic v2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94A3B8"/>
                          </a:solidFill>
                          <a:latin typeface="Outfit"/>
                        </a:rPr>
                        <a:t>Typed REST APIs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8BDF8"/>
                          </a:solidFill>
                          <a:latin typeface="Outfit"/>
                        </a:rPr>
                        <a:t>Database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Supabase PostgreSQL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94A3B8"/>
                          </a:solidFill>
                          <a:latin typeface="Outfit"/>
                        </a:rPr>
                        <a:t>Migrations &amp; RBAC ready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8BDF8"/>
                          </a:solidFill>
                          <a:latin typeface="Outfit"/>
                        </a:rPr>
                        <a:t>AI Core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Google Gemini 2.0 Flash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94A3B8"/>
                          </a:solidFill>
                          <a:latin typeface="Outfit"/>
                        </a:rPr>
                        <a:t>Structured JSON output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8BDF8"/>
                          </a:solidFill>
                          <a:latin typeface="Outfit"/>
                        </a:rPr>
                        <a:t>AI Fallback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Deterministic regex rule extractor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94A3B8"/>
                          </a:solidFill>
                          <a:latin typeface="Outfit"/>
                        </a:rPr>
                        <a:t>Zero API failure guarantee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8BDF8"/>
                          </a:solidFill>
                          <a:latin typeface="Outfit"/>
                        </a:rPr>
                        <a:t>Maps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Leaflet Geospatial Engine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94A3B8"/>
                          </a:solidFill>
                          <a:latin typeface="Outfit"/>
                        </a:rPr>
                        <a:t>Delhi NCR match routes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8BDF8"/>
                          </a:solidFill>
                          <a:latin typeface="Outfit"/>
                        </a:rPr>
                        <a:t>Deploy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Vercel (Frontend) + Render (API)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94A3B8"/>
                          </a:solidFill>
                          <a:latin typeface="Outfit"/>
                        </a:rPr>
                        <a:t>Continuous deployment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3931920"/>
            <a:ext cx="5303520" cy="224028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46304" rIns="146304" bIns="146304" rtlCol="0" anchor="ctr"/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34D399"/>
                </a:solidFill>
                <a:latin typeface="Outfit"/>
              </a:rPr>
              <a:t>TWO GENUINE AI FEATURES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Outfit"/>
              </a:rPr>
              <a:t>Feature 1 — Natural Language Listing Extraction:</a:t>
            </a:r>
          </a:p>
          <a:p>
            <a:pPr>
              <a:spcAft>
                <a:spcPts val="600"/>
              </a:spcAft>
            </a:pPr>
            <a:r>
              <a:rPr sz="900" b="0">
                <a:solidFill>
                  <a:srgbClr val="E2E8F0"/>
                </a:solidFill>
                <a:latin typeface="Outfit"/>
              </a:rPr>
              <a:t>Supplier types: '2 tonnes cotton cutting waste from Noida, Grade A, monthly' → Gemini extracts material_type, qty, unit, grade, location, contamination level instantly.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Outfit"/>
              </a:rPr>
              <a:t>Feature 2 — Explainable Match Reasoning ('Why this match?'):</a:t>
            </a:r>
          </a:p>
          <a:p>
            <a:r>
              <a:rPr sz="900" b="0">
                <a:solidFill>
                  <a:srgbClr val="E2E8F0"/>
                </a:solidFill>
                <a:latin typeface="Outfit"/>
              </a:rPr>
              <a:t>Deterministic 6-D engine calculates score → Gemini generates clear 2-3 sentence explanation of strengths and risks. (AI explains the score — does NOT determine it).</a:t>
            </a:r>
          </a:p>
        </p:txBody>
      </p:sp>
      <p:pic>
        <p:nvPicPr>
          <p:cNvPr id="7" name="Picture 6" descr="slide4_match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dissolve/>
      </p:transition>
    </mc:Choice>
    <mc:Fallback>
      <p:transition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8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●  SLIDE 5 OF 7 — MARKET &amp; BUSINESS POTENTIAL</a:t>
            </a:r>
          </a:p>
          <a:p>
            <a:pPr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Outfit"/>
              </a:rPr>
              <a:t>Monetizing the Compliance Trail, Not Just Transactions</a:t>
            </a:r>
          </a:p>
          <a:p>
            <a:r>
              <a:rPr sz="1200" b="0">
                <a:solidFill>
                  <a:srgbClr val="38BDF8"/>
                </a:solidFill>
                <a:latin typeface="Outfit"/>
              </a:rPr>
              <a:t>SEBI BRSR Core + EPR Mandate create an un-bypassable SaaS compliance lock-in.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276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34D399"/>
                </a:solidFill>
                <a:latin typeface="Outfit"/>
              </a:rPr>
              <a:t>♻ CircularMatch  </a:t>
            </a:r>
            <a:r>
              <a:rPr sz="900" b="0">
                <a:solidFill>
                  <a:srgbClr val="94A3B8"/>
                </a:solidFill>
                <a:latin typeface="Outfit"/>
              </a:rPr>
              <a:t>|  HACKDAY 1.0  |  Solo Levelling — Shivansh Gupta  |  github.com/shivanshguptaa070-del/circularmatch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7772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94A3B8"/>
                </a:solidFill>
                <a:latin typeface="Outfit"/>
              </a:rPr>
              <a:t>TAM — INDIA INDUSTRIAL SECONDARY MATERIALS:  </a:t>
            </a:r>
            <a:r>
              <a:rPr sz="1100" b="1">
                <a:solidFill>
                  <a:srgbClr val="34D399"/>
                </a:solidFill>
                <a:latin typeface="Outfit"/>
              </a:rPr>
              <a:t>₹80,000–1,20,000 Cr</a:t>
            </a:r>
          </a:p>
          <a:p>
            <a:r>
              <a:rPr sz="900" b="0">
                <a:solidFill>
                  <a:srgbClr val="E2E8F0"/>
                </a:solidFill>
                <a:latin typeface="Outfit"/>
              </a:rPr>
              <a:t>Annual industrial recyclable flows across manufacturing sectors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14600"/>
            <a:ext cx="5303520" cy="7772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94A3B8"/>
                </a:solidFill>
                <a:latin typeface="Outfit"/>
              </a:rPr>
              <a:t>SAM — NCR INDUSTRIAL CLUSTERS:  </a:t>
            </a:r>
            <a:r>
              <a:rPr sz="1100" b="1">
                <a:solidFill>
                  <a:srgbClr val="38BDF8"/>
                </a:solidFill>
                <a:latin typeface="Outfit"/>
              </a:rPr>
              <a:t>₹3,000–10,000 Cr</a:t>
            </a:r>
          </a:p>
          <a:p>
            <a:r>
              <a:rPr sz="900" b="0">
                <a:solidFill>
                  <a:srgbClr val="E2E8F0"/>
                </a:solidFill>
                <a:latin typeface="Outfit"/>
              </a:rPr>
              <a:t>Delhi NCR manufacturing hubs (Noida, Gr. Noida, Faridabad, Gurugram)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5303520" cy="77724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94A3B8"/>
                </a:solidFill>
                <a:latin typeface="Outfit"/>
              </a:rPr>
              <a:t>IMMEDIATE MARKET WEDGE:  </a:t>
            </a:r>
            <a:r>
              <a:rPr sz="1100" b="1">
                <a:solidFill>
                  <a:srgbClr val="FBBF24"/>
                </a:solidFill>
                <a:latin typeface="Outfit"/>
              </a:rPr>
              <a:t>500 Listed Companies</a:t>
            </a:r>
          </a:p>
          <a:p>
            <a:r>
              <a:rPr sz="900" b="0">
                <a:solidFill>
                  <a:srgbClr val="E2E8F0"/>
                </a:solidFill>
                <a:latin typeface="Outfit"/>
              </a:rPr>
              <a:t>Mandatory BRSR Core reporting companies this fiscal year → 1,000 by FY27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343400"/>
          <a:ext cx="53035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4D399"/>
                          </a:solidFill>
                          <a:latin typeface="Outfit"/>
                        </a:rPr>
                        <a:t>LAYER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4D399"/>
                          </a:solidFill>
                          <a:latin typeface="Outfit"/>
                        </a:rPr>
                        <a:t>PRODUCT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4D399"/>
                          </a:solidFill>
                          <a:latin typeface="Outfit"/>
                        </a:rPr>
                        <a:t>PRICE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4D399"/>
                          </a:solidFill>
                          <a:latin typeface="Outfit"/>
                        </a:rPr>
                        <a:t>WHY STICKY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Hook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Free listing + matching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8BDF8"/>
                          </a:solidFill>
                          <a:latin typeface="Outfit"/>
                        </a:rPr>
                        <a:t>₹0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E2E8F0"/>
                          </a:solidFill>
                          <a:latin typeface="Outfit"/>
                        </a:rPr>
                        <a:t>Acquires both sides rapidly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Revenue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EHS Compliance SaaS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8BDF8"/>
                          </a:solidFill>
                          <a:latin typeface="Outfit"/>
                        </a:rPr>
                        <a:t>₹5K–15K/mo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E2E8F0"/>
                          </a:solidFill>
                          <a:latin typeface="Outfit"/>
                        </a:rPr>
                        <a:t>BRSR audit trail lives here — bypass = failure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Upsell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FFFFFF"/>
                          </a:solidFill>
                          <a:latin typeface="Outfit"/>
                        </a:rPr>
                        <a:t>Verification per lot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8BDF8"/>
                          </a:solidFill>
                          <a:latin typeface="Outfit"/>
                        </a:rPr>
                        <a:t>₹500–5K/lot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E2E8F0"/>
                          </a:solidFill>
                          <a:latin typeface="Outfit"/>
                        </a:rPr>
                        <a:t>Eliminates buyer gate rejection risk</a:t>
                      </a:r>
                    </a:p>
                  </a:txBody>
                  <a:tcPr>
                    <a:solidFill>
                      <a:srgbClr val="11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623560"/>
            <a:ext cx="5303520" cy="594360"/>
          </a:xfrm>
          <a:prstGeom prst="roundRect">
            <a:avLst/>
          </a:prstGeom>
          <a:solidFill>
            <a:srgbClr val="0A1E16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Outfit"/>
              </a:rPr>
              <a:t>The Un-bypassable Insight: We don't charge transaction fees. We charge for the compliance audit trail. Leave platform = lose audit record.</a:t>
            </a:r>
          </a:p>
        </p:txBody>
      </p:sp>
      <p:pic>
        <p:nvPicPr>
          <p:cNvPr id="10" name="Picture 9" descr="slide5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dissolve/>
      </p:transition>
    </mc:Choice>
    <mc:Fallback>
      <p:transition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8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1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4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●  SLIDE 6 OF 7 — SCALABILITY &amp; FUTURE</a:t>
            </a:r>
          </a:p>
          <a:p>
            <a:pPr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Outfit"/>
              </a:rPr>
              <a:t>Modular Architecture Built to Scale from NCR to National Coverage</a:t>
            </a:r>
          </a:p>
          <a:p>
            <a:r>
              <a:rPr sz="1200" b="0">
                <a:solidFill>
                  <a:srgbClr val="38BDF8"/>
                </a:solidFill>
                <a:latin typeface="Outfit"/>
              </a:rPr>
              <a:t>Production-ready design with configurable weights, pluggable AI, and multi-tenant schema.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276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34D399"/>
                </a:solidFill>
                <a:latin typeface="Outfit"/>
              </a:rPr>
              <a:t>♻ CircularMatch  </a:t>
            </a:r>
            <a:r>
              <a:rPr sz="900" b="0">
                <a:solidFill>
                  <a:srgbClr val="94A3B8"/>
                </a:solidFill>
                <a:latin typeface="Outfit"/>
              </a:rPr>
              <a:t>|  HACKDAY 1.0  |  Solo Levelling — Shivansh Gupta  |  github.com/shivanshguptaa070-del/circularmatch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606040" cy="11430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Outfit"/>
              </a:rPr>
              <a:t>🗄️ In-Memory to Supabase Swap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Zero code changes to go live; database migrations and Supabase Auth schemas already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606040" cy="11430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8BDF8"/>
                </a:solidFill>
                <a:latin typeface="Outfit"/>
              </a:rPr>
              <a:t>🤖 Pluggable AI Service Layer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Swap Gemini model, temperature, or provider without touching business matching logic.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2606040" cy="11430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Outfit"/>
              </a:rPr>
              <a:t>⚖️ Configurable Weights Engine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Admins adjust dimension weights and eligibility gate thresholds directly via built-in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880360"/>
            <a:ext cx="2606040" cy="1143000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8BDF8"/>
                </a:solidFill>
                <a:latin typeface="Outfit"/>
              </a:rPr>
              <a:t>🏢 Multi-Company RBAC Schema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Multi-tenant organization hierarchy and role permissions already structured in Postgres.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06240"/>
            <a:ext cx="5303520" cy="1280160"/>
          </a:xfrm>
          <a:prstGeom prst="roundRect">
            <a:avLst/>
          </a:prstGeom>
          <a:solidFill>
            <a:srgbClr val="0E152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300"/>
              </a:spcAft>
            </a:pPr>
            <a:r>
              <a:rPr sz="950" b="1">
                <a:solidFill>
                  <a:srgbClr val="38BDF8"/>
                </a:solidFill>
                <a:latin typeface="Outfit"/>
              </a:rPr>
              <a:t>12-MONTH COMMERCIAL ROADMAP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34D399"/>
                </a:solidFill>
                <a:latin typeface="Outfit"/>
              </a:rPr>
              <a:t>Month 1–3: </a:t>
            </a:r>
            <a:r>
              <a:rPr sz="850" b="0">
                <a:solidFill>
                  <a:srgbClr val="E2E8F0"/>
                </a:solidFill>
                <a:latin typeface="Outfit"/>
              </a:rPr>
              <a:t>5 paying EHS pilot customers in Noida industrial zone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34D399"/>
                </a:solidFill>
                <a:latin typeface="Outfit"/>
              </a:rPr>
              <a:t>Month 3–6: </a:t>
            </a:r>
            <a:r>
              <a:rPr sz="850" b="0">
                <a:solidFill>
                  <a:srgbClr val="E2E8F0"/>
                </a:solidFill>
                <a:latin typeface="Outfit"/>
              </a:rPr>
              <a:t>First 100 live transactions with digital chain-of-custody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34D399"/>
                </a:solidFill>
                <a:latin typeface="Outfit"/>
              </a:rPr>
              <a:t>Month 6–9: </a:t>
            </a:r>
            <a:r>
              <a:rPr sz="850" b="0">
                <a:solidFill>
                  <a:srgbClr val="E2E8F0"/>
                </a:solidFill>
                <a:latin typeface="Outfit"/>
              </a:rPr>
              <a:t>Automated BRSR certificate PDF generation live (NCR expansion)</a:t>
            </a:r>
          </a:p>
          <a:p>
            <a:pPr>
              <a:spcAft>
                <a:spcPts val="100"/>
              </a:spcAft>
            </a:pPr>
            <a:r>
              <a:rPr sz="850" b="1">
                <a:solidFill>
                  <a:srgbClr val="34D399"/>
                </a:solidFill>
                <a:latin typeface="Outfit"/>
              </a:rPr>
              <a:t>Month 9–12: </a:t>
            </a:r>
            <a:r>
              <a:rPr sz="850" b="0">
                <a:solidFill>
                  <a:srgbClr val="E2E8F0"/>
                </a:solidFill>
                <a:latin typeface="Outfit"/>
              </a:rPr>
              <a:t>Pre-seed funding closed (Greenovation target: Oct 31, 2026)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577840"/>
            <a:ext cx="5303520" cy="640080"/>
          </a:xfrm>
          <a:prstGeom prst="roundRect">
            <a:avLst/>
          </a:prstGeom>
          <a:solidFill>
            <a:srgbClr val="0A1E16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Outfit"/>
              </a:rPr>
              <a:t>Data Moat: First mover with labeled secondary material quality outcomes and rejection reasons owns the pricing intelligence layer across India.</a:t>
            </a:r>
          </a:p>
        </p:txBody>
      </p:sp>
      <p:pic>
        <p:nvPicPr>
          <p:cNvPr id="11" name="Picture 10" descr="slide6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dissolve/>
      </p:transition>
    </mc:Choice>
    <mc:Fallback>
      <p:transition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8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1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4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3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34D399"/>
                </a:solidFill>
                <a:latin typeface="Outfit"/>
              </a:rPr>
              <a:t>●  SLIDE 7 OF 7 — IF WE HAD MORE TIME</a:t>
            </a:r>
          </a:p>
          <a:p>
            <a:pPr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Outfit"/>
              </a:rPr>
              <a:t>Roadmap to Mission-Critical Industrial Compliance Infrastructure</a:t>
            </a:r>
          </a:p>
          <a:p>
            <a:r>
              <a:rPr sz="1200" b="0">
                <a:solidFill>
                  <a:srgbClr val="38BDF8"/>
                </a:solidFill>
                <a:latin typeface="Outfit"/>
              </a:rPr>
              <a:t>Transforming an AI matching MVP into India's certified secondary material registry.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276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>
                <a:solidFill>
                  <a:srgbClr val="34D399"/>
                </a:solidFill>
                <a:latin typeface="Outfit"/>
              </a:rPr>
              <a:t>♻ CircularMatch  </a:t>
            </a:r>
            <a:r>
              <a:rPr sz="900" b="0">
                <a:solidFill>
                  <a:srgbClr val="94A3B8"/>
                </a:solidFill>
                <a:latin typeface="Outfit"/>
              </a:rPr>
              <a:t>|  HACKDAY 1.0  |  Solo Levelling — Shivansh Gupta  |  github.com/shivanshguptaa070-del/circularmatch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30352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Outfit"/>
              </a:rPr>
              <a:t>1. BRSR Compliance Certificate Generator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Auto-generate cryptographically signed chain-of-custody PDF directly usable in SEBI audit submissions. Converts CircularMatch into compliance infrastructure.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530352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8BDF8"/>
                </a:solidFill>
                <a:latin typeface="Outfit"/>
              </a:rPr>
              <a:t>2. AI Photo Quality Grading (Computer Vision)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Supplier uploads scrap photo → computer vision returns contamination score and material grade before shipment. Eliminates the 30–60% gate rejection rate.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530352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4D399"/>
                </a:solidFill>
                <a:latin typeface="Outfit"/>
              </a:rPr>
              <a:t>3. Live Supabase Connection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Database migrations are fully written; Supabase Auth schema exists. One environment variable away from persistent production cloud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530352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38BDF8"/>
                </a:solidFill>
                <a:latin typeface="Outfit"/>
              </a:rPr>
              <a:t>4. EPR Credit Chain Documentation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Connect EPR-obligated corporate brands directly with CPCB-registered recyclers with traceable plastic credits and verified disposal trails.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754880"/>
            <a:ext cx="5303520" cy="713232"/>
          </a:xfrm>
          <a:prstGeom prst="roundRect">
            <a:avLst/>
          </a:prstGeom>
          <a:solidFill>
            <a:srgbClr val="111A2E"/>
          </a:solidFill>
          <a:ln w="12700">
            <a:solidFill>
              <a:srgbClr val="202E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BBF24"/>
                </a:solidFill>
                <a:latin typeface="Outfit"/>
              </a:rPr>
              <a:t>5. EU Digital Product Passport (DPP)</a:t>
            </a:r>
          </a:p>
          <a:p>
            <a:r>
              <a:rPr sz="850" b="0">
                <a:solidFill>
                  <a:srgbClr val="E2E8F0"/>
                </a:solidFill>
                <a:latin typeface="Outfit"/>
              </a:rPr>
              <a:t>JSON-LD material passports with GS1 QR codes. Indian exporters need ESPR compliance by Feb 2027. Passport architecture maps directly to this standard.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23560"/>
            <a:ext cx="5303520" cy="594360"/>
          </a:xfrm>
          <a:prstGeom prst="roundRect">
            <a:avLst/>
          </a:prstGeom>
          <a:solidFill>
            <a:srgbClr val="111A2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4D399"/>
                </a:solidFill>
                <a:latin typeface="Outfit"/>
              </a:rPr>
              <a:t>SUBMISSION: </a:t>
            </a:r>
            <a:r>
              <a:rPr sz="850" b="0">
                <a:solidFill>
                  <a:srgbClr val="FFFFFF"/>
                </a:solidFill>
                <a:latin typeface="Outfit"/>
              </a:rPr>
              <a:t>CircularMatch  |  Team: Solo Levelling (Shivansh Gupta)  |  GitHub: github.com/shivanshguptaa070-del/circularmatch</a:t>
            </a:r>
          </a:p>
        </p:txBody>
      </p:sp>
      <p:pic>
        <p:nvPicPr>
          <p:cNvPr id="11" name="Picture 10" descr="slide7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dissolve/>
      </p:transition>
    </mc:Choice>
    <mc:Fallback>
      <p:transition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3" presetClass="entr" presetSubtype="16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8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1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4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3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1606</Words>
  <Application>Microsoft Office PowerPoint</Application>
  <PresentationFormat>Widescreen</PresentationFormat>
  <Paragraphs>159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Outfit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Devansh Gupta</cp:lastModifiedBy>
  <cp:revision>2</cp:revision>
  <dcterms:created xsi:type="dcterms:W3CDTF">2013-01-27T09:14:16Z</dcterms:created>
  <dcterms:modified xsi:type="dcterms:W3CDTF">2026-09-20T12:48:14Z</dcterms:modified>
  <cp:category/>
</cp:coreProperties>
</file>