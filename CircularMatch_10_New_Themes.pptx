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548640"/>
          </a:xfrm>
          <a:prstGeom prst="roundRect">
            <a:avLst/>
          </a:prstGeom>
          <a:solidFill>
            <a:srgbClr val="1A05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0080"/>
                </a:solidFill>
              </a:defRPr>
            </a:pPr>
            <a:r>
              <a:t>EXPERIMENT 11: CYBERPUNK INDUSTRIAL   |   FONTS: Consolas / 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CIRCULARMATCH</a:t>
            </a:r>
            <a:br/>
            <a:r>
              <a:t>INDUSTRIAL MATERIAL INTELLIGENCE</a:t>
            </a:r>
          </a:p>
          <a:p>
            <a:pPr>
              <a:spcBef>
                <a:spcPts val="1400"/>
              </a:spcBef>
              <a:defRPr sz="4400" b="1">
                <a:solidFill>
                  <a:srgbClr val="FFFFFF"/>
                </a:solidFill>
              </a:defRPr>
            </a:pPr>
            <a:r>
              <a:t>Turn industrial waste into qualified, compliant value.</a:t>
            </a:r>
          </a:p>
          <a:p>
            <a:pPr>
              <a:spcBef>
                <a:spcPts val="1400"/>
              </a:spcBef>
              <a:defRPr sz="1800">
                <a:solidFill>
                  <a:srgbClr val="B4B4DC"/>
                </a:solidFill>
              </a:defRPr>
            </a:pPr>
            <a:r>
              <a:t>The intelligence and trust layer connecting factory by-products with verified secondary-material buyers.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3200400" cy="1097280"/>
          </a:xfrm>
          <a:prstGeom prst="roundRect">
            <a:avLst/>
          </a:prstGeom>
          <a:solidFill>
            <a:srgbClr val="1A053C"/>
          </a:solidFill>
          <a:ln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00FFFF"/>
                </a:solidFill>
              </a:defRPr>
            </a:pPr>
            <a:r>
              <a:t>EXPLAINABLE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100-point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5029200"/>
            <a:ext cx="3200400" cy="1097280"/>
          </a:xfrm>
          <a:prstGeom prst="roundRect">
            <a:avLst/>
          </a:prstGeom>
          <a:solidFill>
            <a:srgbClr val="FF0080"/>
          </a:solidFill>
          <a:ln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0D0221"/>
                </a:solidFill>
              </a:defRPr>
            </a:pPr>
            <a:r>
              <a:t>CURRENT STATUS</a:t>
            </a:r>
          </a:p>
          <a:p>
            <a:pPr>
              <a:defRPr sz="1800" b="1">
                <a:solidFill>
                  <a:srgbClr val="0D0221"/>
                </a:solidFill>
              </a:defRPr>
            </a:pPr>
            <a:r>
              <a:t>Trusted pilot core</a:t>
            </a:r>
          </a:p>
        </p:txBody>
      </p:sp>
      <p:sp>
        <p:nvSpPr>
          <p:cNvPr id="7" name="Donut 6"/>
          <p:cNvSpPr/>
          <p:nvPr/>
        </p:nvSpPr>
        <p:spPr>
          <a:xfrm>
            <a:off x="8229600" y="2286000"/>
            <a:ext cx="3200400" cy="3200400"/>
          </a:xfrm>
          <a:prstGeom prst="donu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4DC"/>
                </a:solidFill>
              </a:defRPr>
            </a:pPr>
            <a:r>
              <a:t>CIRCULARMATCH   •   THEME PREVIEW   •   PAGE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0080"/>
                </a:solidFill>
              </a:defRPr>
            </a:pPr>
            <a:r>
              <a:t>02 / THE INDUSTRY BREAKDOWN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Discovery is solved. Qualification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 bIns="365760" wrap="square"/>
          <a:lstStyle/>
          <a:p>
            <a:pPr algn="ctr">
              <a:spcBef>
                <a:spcPts val="8000"/>
              </a:spcBef>
              <a:defRPr sz="1200" b="1">
                <a:solidFill>
                  <a:srgbClr val="0D0221"/>
                </a:solidFill>
              </a:defRPr>
            </a:pPr>
            <a:r>
              <a:t>FAILURE RATE AT BUYER GATE</a:t>
            </a:r>
          </a:p>
          <a:p>
            <a:pPr>
              <a:defRPr sz="7200" b="1">
                <a:solidFill>
                  <a:srgbClr val="0D0221"/>
                </a:solidFill>
              </a:defRPr>
            </a:pPr>
            <a:r>
              <a:t>30–60%</a:t>
            </a:r>
          </a:p>
          <a:p>
            <a:pPr>
              <a:spcBef>
                <a:spcPts val="2000"/>
              </a:spcBef>
              <a:defRPr sz="1400">
                <a:solidFill>
                  <a:srgbClr val="0D0221"/>
                </a:solidFill>
              </a:defRPr>
            </a:pPr>
            <a:r>
              <a:t>of new-supplier secondary material is rejected upon arrival because specifications, contamination levels, and moisture were never technically qualified upfront.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6858000" cy="1280160"/>
          </a:xfrm>
          <a:prstGeom prst="rect">
            <a:avLst/>
          </a:prstGeom>
          <a:solidFill>
            <a:srgbClr val="1A053C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 / GENERIC SPECIFICATIONS</a:t>
            </a:r>
          </a:p>
          <a:p>
            <a:pPr>
              <a:spcBef>
                <a:spcPts val="500"/>
              </a:spcBef>
              <a:defRPr sz="1300">
                <a:solidFill>
                  <a:srgbClr val="B4B4DC"/>
                </a:solidFill>
              </a:defRPr>
            </a:pPr>
            <a:r>
              <a:t>Informal WhatsApp scrap descriptions omit polymer grade, melt flow index, and moisture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383280"/>
            <a:ext cx="6858000" cy="1280160"/>
          </a:xfrm>
          <a:prstGeom prst="rect">
            <a:avLst/>
          </a:prstGeom>
          <a:solidFill>
            <a:srgbClr val="1A053C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 / FREIGHT BEFORE PROOF</a:t>
            </a:r>
          </a:p>
          <a:p>
            <a:pPr>
              <a:spcBef>
                <a:spcPts val="500"/>
              </a:spcBef>
              <a:defRPr sz="1300">
                <a:solidFill>
                  <a:srgbClr val="B4B4DC"/>
                </a:solidFill>
              </a:defRPr>
            </a:pPr>
            <a:r>
              <a:t>Trucks dispatch before acceptance criteria are locked, generating catastrophic dead-haulage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937760"/>
            <a:ext cx="6858000" cy="1280160"/>
          </a:xfrm>
          <a:prstGeom prst="rect">
            <a:avLst/>
          </a:prstGeom>
          <a:solidFill>
            <a:srgbClr val="1A053C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 / COMPLIANCE LIABILITIES</a:t>
            </a:r>
          </a:p>
          <a:p>
            <a:pPr>
              <a:spcBef>
                <a:spcPts val="500"/>
              </a:spcBef>
              <a:defRPr sz="1300">
                <a:solidFill>
                  <a:srgbClr val="B4B4DC"/>
                </a:solidFill>
              </a:defRPr>
            </a:pPr>
            <a:r>
              <a:t>Informal cash receipts fail statutory SEBI BRSR and CPCB EPR chain-of-custody audit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4DC"/>
                </a:solidFill>
              </a:defRPr>
            </a:pPr>
            <a:r>
              <a:t>CIRCULARMATCH   •   THEME PREVIEW   •   PAGE 2 OF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17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A5D4E"/>
                </a:solidFill>
              </a:defRPr>
            </a:pPr>
            <a:r>
              <a:t>EXPERIMENT 12: ORGANIC MINIMALISM   |   FONTS: Georgia / Calibri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17D60"/>
                </a:solidFill>
              </a:defRPr>
            </a:pPr>
            <a:r>
              <a:t>CIRCULARMATCH</a:t>
            </a:r>
            <a:br/>
            <a:r>
              <a:t>INDUSTRIAL MATERIAL INTELLIGENCE</a:t>
            </a:r>
          </a:p>
          <a:p>
            <a:pPr>
              <a:spcBef>
                <a:spcPts val="1400"/>
              </a:spcBef>
              <a:defRPr sz="4400" b="1">
                <a:solidFill>
                  <a:srgbClr val="282828"/>
                </a:solidFill>
              </a:defRPr>
            </a:pPr>
            <a:r>
              <a:t>Turn industrial waste into qualified, compliant value.</a:t>
            </a:r>
          </a:p>
          <a:p>
            <a:pPr>
              <a:spcBef>
                <a:spcPts val="1400"/>
              </a:spcBef>
              <a:defRPr sz="1800">
                <a:solidFill>
                  <a:srgbClr val="646464"/>
                </a:solidFill>
              </a:defRPr>
            </a:pPr>
            <a:r>
              <a:t>The intelligence and trust layer connecting factory by-products with verified secondary-material buyers.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4A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C17D60"/>
                </a:solidFill>
              </a:defRPr>
            </a:pPr>
            <a:r>
              <a:t>EXPLAINABLE</a:t>
            </a:r>
          </a:p>
          <a:p>
            <a:pPr>
              <a:defRPr sz="1800" b="1">
                <a:solidFill>
                  <a:srgbClr val="282828"/>
                </a:solidFill>
              </a:defRPr>
            </a:pPr>
            <a:r>
              <a:t>100-point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5029200"/>
            <a:ext cx="3200400" cy="1097280"/>
          </a:xfrm>
          <a:prstGeom prst="roundRect">
            <a:avLst/>
          </a:prstGeom>
          <a:solidFill>
            <a:srgbClr val="4A5D4E"/>
          </a:solidFill>
          <a:ln>
            <a:solidFill>
              <a:srgbClr val="4A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F5F2EB"/>
                </a:solidFill>
              </a:defRPr>
            </a:pPr>
            <a:r>
              <a:t>CURRENT STATUS</a:t>
            </a:r>
          </a:p>
          <a:p>
            <a:pPr>
              <a:defRPr sz="1800" b="1">
                <a:solidFill>
                  <a:srgbClr val="F5F2EB"/>
                </a:solidFill>
              </a:defRPr>
            </a:pPr>
            <a:r>
              <a:t>Trusted pilot core</a:t>
            </a:r>
          </a:p>
        </p:txBody>
      </p:sp>
      <p:sp>
        <p:nvSpPr>
          <p:cNvPr id="7" name="Donut 6"/>
          <p:cNvSpPr/>
          <p:nvPr/>
        </p:nvSpPr>
        <p:spPr>
          <a:xfrm>
            <a:off x="8229600" y="2286000"/>
            <a:ext cx="3200400" cy="3200400"/>
          </a:xfrm>
          <a:prstGeom prst="donut">
            <a:avLst/>
          </a:prstGeom>
          <a:solidFill>
            <a:srgbClr val="4A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CIRCULARMATCH   •   THEME PREVIEW   •   PAGE 1 OF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5D4E"/>
                </a:solidFill>
              </a:defRPr>
            </a:pPr>
            <a:r>
              <a:t>02 / THE INDUSTRY BREAKDOWN</a:t>
            </a:r>
          </a:p>
          <a:p>
            <a:pPr>
              <a:defRPr sz="3600" b="1">
                <a:solidFill>
                  <a:srgbClr val="282828"/>
                </a:solidFill>
              </a:defRPr>
            </a:pPr>
            <a:r>
              <a:t>Discovery is solved. Qualification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4A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 bIns="365760" wrap="square"/>
          <a:lstStyle/>
          <a:p>
            <a:pPr algn="ctr">
              <a:spcBef>
                <a:spcPts val="8000"/>
              </a:spcBef>
              <a:defRPr sz="1200" b="1">
                <a:solidFill>
                  <a:srgbClr val="F5F2EB"/>
                </a:solidFill>
              </a:defRPr>
            </a:pPr>
            <a:r>
              <a:t>FAILURE RATE AT BUYER GATE</a:t>
            </a:r>
          </a:p>
          <a:p>
            <a:pPr>
              <a:defRPr sz="7200" b="1">
                <a:solidFill>
                  <a:srgbClr val="F5F2EB"/>
                </a:solidFill>
              </a:defRPr>
            </a:pPr>
            <a:r>
              <a:t>30–60%</a:t>
            </a:r>
          </a:p>
          <a:p>
            <a:pPr>
              <a:spcBef>
                <a:spcPts val="2000"/>
              </a:spcBef>
              <a:defRPr sz="1400">
                <a:solidFill>
                  <a:srgbClr val="F5F2EB"/>
                </a:solidFill>
              </a:defRPr>
            </a:pPr>
            <a:r>
              <a:t>of new-supplier secondary material is rejected upon arrival because specifications, contamination levels, and moisture were never technically qualified upfront.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68580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C17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01 / GENERIC SPECIFICATIONS</a:t>
            </a:r>
          </a:p>
          <a:p>
            <a:pPr>
              <a:spcBef>
                <a:spcPts val="500"/>
              </a:spcBef>
              <a:defRPr sz="1300">
                <a:solidFill>
                  <a:srgbClr val="646464"/>
                </a:solidFill>
              </a:defRPr>
            </a:pPr>
            <a:r>
              <a:t>Informal WhatsApp scrap descriptions omit polymer grade, melt flow index, and moisture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383280"/>
            <a:ext cx="68580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C17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02 / FREIGHT BEFORE PROOF</a:t>
            </a:r>
          </a:p>
          <a:p>
            <a:pPr>
              <a:spcBef>
                <a:spcPts val="500"/>
              </a:spcBef>
              <a:defRPr sz="1300">
                <a:solidFill>
                  <a:srgbClr val="646464"/>
                </a:solidFill>
              </a:defRPr>
            </a:pPr>
            <a:r>
              <a:t>Trucks dispatch before acceptance criteria are locked, generating catastrophic dead-haulage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937760"/>
            <a:ext cx="68580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C17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03 / COMPLIANCE LIABILITIES</a:t>
            </a:r>
          </a:p>
          <a:p>
            <a:pPr>
              <a:spcBef>
                <a:spcPts val="500"/>
              </a:spcBef>
              <a:defRPr sz="1300">
                <a:solidFill>
                  <a:srgbClr val="646464"/>
                </a:solidFill>
              </a:defRPr>
            </a:pPr>
            <a:r>
              <a:t>Informal cash receipts fail statutory SEBI BRSR and CPCB EPR chain-of-custody audit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CIRCULARMATCH   •   THEME PREVIEW   •   PAGE 2 OF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54864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285F"/>
                </a:solidFill>
              </a:defRPr>
            </a:pPr>
            <a:r>
              <a:t>EXPERIMENT 13: CORPORATE TRUST   |   FONTS: Arial / Helvetica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D2DC"/>
                </a:solidFill>
              </a:defRPr>
            </a:pPr>
            <a:r>
              <a:t>CIRCULARMATCH</a:t>
            </a:r>
            <a:br/>
            <a:r>
              <a:t>INDUSTRIAL MATERIAL INTELLIGENCE</a:t>
            </a:r>
          </a:p>
          <a:p>
            <a:pPr>
              <a:spcBef>
                <a:spcPts val="1400"/>
              </a:spcBef>
              <a:defRPr sz="4400" b="1">
                <a:solidFill>
                  <a:srgbClr val="141414"/>
                </a:solidFill>
              </a:defRPr>
            </a:pPr>
            <a:r>
              <a:t>Turn industrial waste into qualified, compliant value.</a:t>
            </a:r>
          </a:p>
          <a:p>
            <a:pPr>
              <a:spcBef>
                <a:spcPts val="1400"/>
              </a:spcBef>
              <a:defRPr sz="1800">
                <a:solidFill>
                  <a:srgbClr val="5A5A5A"/>
                </a:solidFill>
              </a:defRPr>
            </a:pPr>
            <a:r>
              <a:t>The intelligence and trust layer connecting factory by-products with verified secondary-material buyers.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32004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0A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C8D2DC"/>
                </a:solidFill>
              </a:defRPr>
            </a:pPr>
            <a:r>
              <a:t>EXPLAINABLE</a:t>
            </a:r>
          </a:p>
          <a:p>
            <a:pPr>
              <a:defRPr sz="1800" b="1">
                <a:solidFill>
                  <a:srgbClr val="141414"/>
                </a:solidFill>
              </a:defRPr>
            </a:pPr>
            <a:r>
              <a:t>100-point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5029200"/>
            <a:ext cx="3200400" cy="1097280"/>
          </a:xfrm>
          <a:prstGeom prst="roundRect">
            <a:avLst/>
          </a:prstGeom>
          <a:solidFill>
            <a:srgbClr val="0A285F"/>
          </a:solidFill>
          <a:ln>
            <a:solidFill>
              <a:srgbClr val="0A2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CURRENT STATUS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Trusted pilot core</a:t>
            </a:r>
          </a:p>
        </p:txBody>
      </p:sp>
      <p:sp>
        <p:nvSpPr>
          <p:cNvPr id="7" name="Donut 6"/>
          <p:cNvSpPr/>
          <p:nvPr/>
        </p:nvSpPr>
        <p:spPr>
          <a:xfrm>
            <a:off x="8229600" y="2286000"/>
            <a:ext cx="3200400" cy="3200400"/>
          </a:xfrm>
          <a:prstGeom prst="donut">
            <a:avLst/>
          </a:prstGeom>
          <a:solidFill>
            <a:srgbClr val="0A2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CIRCULARMATCH   •   THEME PREVIEW   •   PAGE 1 OF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85F"/>
                </a:solidFill>
              </a:defRPr>
            </a:pPr>
            <a:r>
              <a:t>02 / THE INDUSTRY BREAKDOWN</a:t>
            </a:r>
          </a:p>
          <a:p>
            <a:pPr>
              <a:defRPr sz="3600" b="1">
                <a:solidFill>
                  <a:srgbClr val="141414"/>
                </a:solidFill>
              </a:defRPr>
            </a:pPr>
            <a:r>
              <a:t>Discovery is solved. Qualification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0A2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 bIns="365760" wrap="square"/>
          <a:lstStyle/>
          <a:p>
            <a:pPr algn="ctr">
              <a:spcBef>
                <a:spcPts val="8000"/>
              </a:spcBef>
              <a:defRPr sz="1200" b="1">
                <a:solidFill>
                  <a:srgbClr val="FFFFFF"/>
                </a:solidFill>
              </a:defRPr>
            </a:pPr>
            <a:r>
              <a:t>FAILURE RATE AT BUYER GATE</a:t>
            </a:r>
          </a:p>
          <a:p>
            <a:pPr>
              <a:defRPr sz="7200" b="1">
                <a:solidFill>
                  <a:srgbClr val="FFFFFF"/>
                </a:solidFill>
              </a:defRPr>
            </a:pPr>
            <a:r>
              <a:t>30–60%</a:t>
            </a:r>
          </a:p>
          <a:p>
            <a:pPr>
              <a:spcBef>
                <a:spcPts val="2000"/>
              </a:spcBef>
              <a:defRPr sz="1400">
                <a:solidFill>
                  <a:srgbClr val="FFFFFF"/>
                </a:solidFill>
              </a:defRPr>
            </a:pPr>
            <a:r>
              <a:t>of new-supplier secondary material is rejected upon arrival because specifications, contamination levels, and moisture were never technically qualified upfront.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6858000" cy="1280160"/>
          </a:xfrm>
          <a:prstGeom prst="rect">
            <a:avLst/>
          </a:prstGeom>
          <a:solidFill>
            <a:srgbClr val="F5F7FA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141414"/>
                </a:solidFill>
              </a:defRPr>
            </a:pPr>
            <a:r>
              <a:t>01 / GENERIC SPECIFICATIONS</a:t>
            </a:r>
          </a:p>
          <a:p>
            <a:pPr>
              <a:spcBef>
                <a:spcPts val="500"/>
              </a:spcBef>
              <a:defRPr sz="1300">
                <a:solidFill>
                  <a:srgbClr val="5A5A5A"/>
                </a:solidFill>
              </a:defRPr>
            </a:pPr>
            <a:r>
              <a:t>Informal WhatsApp scrap descriptions omit polymer grade, melt flow index, and moisture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383280"/>
            <a:ext cx="6858000" cy="1280160"/>
          </a:xfrm>
          <a:prstGeom prst="rect">
            <a:avLst/>
          </a:prstGeom>
          <a:solidFill>
            <a:srgbClr val="F5F7FA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141414"/>
                </a:solidFill>
              </a:defRPr>
            </a:pPr>
            <a:r>
              <a:t>02 / FREIGHT BEFORE PROOF</a:t>
            </a:r>
          </a:p>
          <a:p>
            <a:pPr>
              <a:spcBef>
                <a:spcPts val="500"/>
              </a:spcBef>
              <a:defRPr sz="1300">
                <a:solidFill>
                  <a:srgbClr val="5A5A5A"/>
                </a:solidFill>
              </a:defRPr>
            </a:pPr>
            <a:r>
              <a:t>Trucks dispatch before acceptance criteria are locked, generating catastrophic dead-haulage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937760"/>
            <a:ext cx="6858000" cy="1280160"/>
          </a:xfrm>
          <a:prstGeom prst="rect">
            <a:avLst/>
          </a:prstGeom>
          <a:solidFill>
            <a:srgbClr val="F5F7FA"/>
          </a:solidFill>
          <a:ln w="254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141414"/>
                </a:solidFill>
              </a:defRPr>
            </a:pPr>
            <a:r>
              <a:t>03 / COMPLIANCE LIABILITIES</a:t>
            </a:r>
          </a:p>
          <a:p>
            <a:pPr>
              <a:spcBef>
                <a:spcPts val="500"/>
              </a:spcBef>
              <a:defRPr sz="1300">
                <a:solidFill>
                  <a:srgbClr val="5A5A5A"/>
                </a:solidFill>
              </a:defRPr>
            </a:pPr>
            <a:r>
              <a:t>Informal cash receipts fail statutory SEBI BRSR and CPCB EPR chain-of-custody audit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CIRCULARMATCH   •   THEME PREVIEW   •   PAGE 2 OF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548640"/>
          </a:xfrm>
          <a:prstGeom prst="roundRect">
            <a:avLst/>
          </a:prstGeom>
          <a:solidFill>
            <a:srgbClr val="0A2032"/>
          </a:solidFill>
          <a:ln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A8FF"/>
                </a:solidFill>
              </a:defRPr>
            </a:pPr>
            <a:r>
              <a:t>EXPERIMENT 14: DEEP OCEAN TECH   |   FONTS: Segoe UI / 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D3"/>
                </a:solidFill>
              </a:defRPr>
            </a:pPr>
            <a:r>
              <a:t>CIRCULARMATCH</a:t>
            </a:r>
            <a:br/>
            <a:r>
              <a:t>INDUSTRIAL MATERIAL INTELLIGENCE</a:t>
            </a:r>
          </a:p>
          <a:p>
            <a:pPr>
              <a:spcBef>
                <a:spcPts val="1400"/>
              </a:spcBef>
              <a:defRPr sz="4400" b="1">
                <a:solidFill>
                  <a:srgbClr val="F0F5FF"/>
                </a:solidFill>
              </a:defRPr>
            </a:pPr>
            <a:r>
              <a:t>Turn industrial waste into qualified, compliant value.</a:t>
            </a:r>
          </a:p>
          <a:p>
            <a:pPr>
              <a:spcBef>
                <a:spcPts val="1400"/>
              </a:spcBef>
              <a:defRPr sz="1800">
                <a:solidFill>
                  <a:srgbClr val="8296B4"/>
                </a:solidFill>
              </a:defRPr>
            </a:pPr>
            <a:r>
              <a:t>The intelligence and trust layer connecting factory by-products with verified secondary-material buyers.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3200400" cy="1097280"/>
          </a:xfrm>
          <a:prstGeom prst="roundRect">
            <a:avLst/>
          </a:prstGeom>
          <a:solidFill>
            <a:srgbClr val="0A2032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00D2D3"/>
                </a:solidFill>
              </a:defRPr>
            </a:pPr>
            <a:r>
              <a:t>EXPLAINABLE</a:t>
            </a:r>
          </a:p>
          <a:p>
            <a:pPr>
              <a:defRPr sz="1800" b="1">
                <a:solidFill>
                  <a:srgbClr val="F0F5FF"/>
                </a:solidFill>
              </a:defRPr>
            </a:pPr>
            <a:r>
              <a:t>100-point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5029200"/>
            <a:ext cx="320040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04121E"/>
                </a:solidFill>
              </a:defRPr>
            </a:pPr>
            <a:r>
              <a:t>CURRENT STATUS</a:t>
            </a:r>
          </a:p>
          <a:p>
            <a:pPr>
              <a:defRPr sz="1800" b="1">
                <a:solidFill>
                  <a:srgbClr val="04121E"/>
                </a:solidFill>
              </a:defRPr>
            </a:pPr>
            <a:r>
              <a:t>Trusted pilot core</a:t>
            </a:r>
          </a:p>
        </p:txBody>
      </p:sp>
      <p:sp>
        <p:nvSpPr>
          <p:cNvPr id="7" name="Donut 6"/>
          <p:cNvSpPr/>
          <p:nvPr/>
        </p:nvSpPr>
        <p:spPr>
          <a:xfrm>
            <a:off x="8229600" y="2286000"/>
            <a:ext cx="3200400" cy="3200400"/>
          </a:xfrm>
          <a:prstGeom prst="donu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96B4"/>
                </a:solidFill>
              </a:defRPr>
            </a:pPr>
            <a:r>
              <a:t>CIRCULARMATCH   •   THEME PREVIEW   •   PAGE 1 OF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FF"/>
                </a:solidFill>
              </a:defRPr>
            </a:pPr>
            <a:r>
              <a:t>02 / THE INDUSTRY BREAKDOWN</a:t>
            </a:r>
          </a:p>
          <a:p>
            <a:pPr>
              <a:defRPr sz="3600" b="1">
                <a:solidFill>
                  <a:srgbClr val="F0F5FF"/>
                </a:solidFill>
              </a:defRPr>
            </a:pPr>
            <a:r>
              <a:t>Discovery is solved. Qualification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 bIns="365760" wrap="square"/>
          <a:lstStyle/>
          <a:p>
            <a:pPr algn="ctr">
              <a:spcBef>
                <a:spcPts val="8000"/>
              </a:spcBef>
              <a:defRPr sz="1200" b="1">
                <a:solidFill>
                  <a:srgbClr val="04121E"/>
                </a:solidFill>
              </a:defRPr>
            </a:pPr>
            <a:r>
              <a:t>FAILURE RATE AT BUYER GATE</a:t>
            </a:r>
          </a:p>
          <a:p>
            <a:pPr>
              <a:defRPr sz="7200" b="1">
                <a:solidFill>
                  <a:srgbClr val="04121E"/>
                </a:solidFill>
              </a:defRPr>
            </a:pPr>
            <a:r>
              <a:t>30–60%</a:t>
            </a:r>
          </a:p>
          <a:p>
            <a:pPr>
              <a:spcBef>
                <a:spcPts val="2000"/>
              </a:spcBef>
              <a:defRPr sz="1400">
                <a:solidFill>
                  <a:srgbClr val="04121E"/>
                </a:solidFill>
              </a:defRPr>
            </a:pPr>
            <a:r>
              <a:t>of new-supplier secondary material is rejected upon arrival because specifications, contamination levels, and moisture were never technically qualified upfront.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6858000" cy="1280160"/>
          </a:xfrm>
          <a:prstGeom prst="rect">
            <a:avLst/>
          </a:prstGeom>
          <a:solidFill>
            <a:srgbClr val="0A2032"/>
          </a:solidFill>
          <a:ln w="2540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0F5FF"/>
                </a:solidFill>
              </a:defRPr>
            </a:pPr>
            <a:r>
              <a:t>01 / GENERIC SPECIFICATIONS</a:t>
            </a:r>
          </a:p>
          <a:p>
            <a:pPr>
              <a:spcBef>
                <a:spcPts val="500"/>
              </a:spcBef>
              <a:defRPr sz="1300">
                <a:solidFill>
                  <a:srgbClr val="8296B4"/>
                </a:solidFill>
              </a:defRPr>
            </a:pPr>
            <a:r>
              <a:t>Informal WhatsApp scrap descriptions omit polymer grade, melt flow index, and moisture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383280"/>
            <a:ext cx="6858000" cy="1280160"/>
          </a:xfrm>
          <a:prstGeom prst="rect">
            <a:avLst/>
          </a:prstGeom>
          <a:solidFill>
            <a:srgbClr val="0A2032"/>
          </a:solidFill>
          <a:ln w="2540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0F5FF"/>
                </a:solidFill>
              </a:defRPr>
            </a:pPr>
            <a:r>
              <a:t>02 / FREIGHT BEFORE PROOF</a:t>
            </a:r>
          </a:p>
          <a:p>
            <a:pPr>
              <a:spcBef>
                <a:spcPts val="500"/>
              </a:spcBef>
              <a:defRPr sz="1300">
                <a:solidFill>
                  <a:srgbClr val="8296B4"/>
                </a:solidFill>
              </a:defRPr>
            </a:pPr>
            <a:r>
              <a:t>Trucks dispatch before acceptance criteria are locked, generating catastrophic dead-haulage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937760"/>
            <a:ext cx="6858000" cy="1280160"/>
          </a:xfrm>
          <a:prstGeom prst="rect">
            <a:avLst/>
          </a:prstGeom>
          <a:solidFill>
            <a:srgbClr val="0A2032"/>
          </a:solidFill>
          <a:ln w="25400"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0F5FF"/>
                </a:solidFill>
              </a:defRPr>
            </a:pPr>
            <a:r>
              <a:t>03 / COMPLIANCE LIABILITIES</a:t>
            </a:r>
          </a:p>
          <a:p>
            <a:pPr>
              <a:spcBef>
                <a:spcPts val="500"/>
              </a:spcBef>
              <a:defRPr sz="1300">
                <a:solidFill>
                  <a:srgbClr val="8296B4"/>
                </a:solidFill>
              </a:defRPr>
            </a:pPr>
            <a:r>
              <a:t>Informal cash receipts fail statutory SEBI BRSR and CPCB EPR chain-of-custody audit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296B4"/>
                </a:solidFill>
              </a:defRPr>
            </a:pPr>
            <a:r>
              <a:t>CIRCULARMATCH   •   THEME PREVIEW   •   PAGE 2 OF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548640"/>
          </a:xfrm>
          <a:prstGeom prst="round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143C"/>
                </a:solidFill>
              </a:defRPr>
            </a:pPr>
            <a:r>
              <a:t>EXPERIMENT 15: BOLD EDITORIAL   |   FONTS: Arial Black /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CIRCULARMATCH</a:t>
            </a:r>
            <a:br/>
            <a:r>
              <a:t>INDUSTRIAL MATERIAL INTELLIGENCE</a:t>
            </a:r>
          </a:p>
          <a:p>
            <a:pPr>
              <a:spcBef>
                <a:spcPts val="1400"/>
              </a:spcBef>
              <a:defRPr sz="4400" b="1">
                <a:solidFill>
                  <a:srgbClr val="000000"/>
                </a:solidFill>
              </a:defRPr>
            </a:pPr>
            <a:r>
              <a:t>Turn industrial waste into qualified, compliant value.</a:t>
            </a:r>
          </a:p>
          <a:p>
            <a:pPr>
              <a:spcBef>
                <a:spcPts val="1400"/>
              </a:spcBef>
              <a:defRPr sz="1800">
                <a:solidFill>
                  <a:srgbClr val="787878"/>
                </a:solidFill>
              </a:defRPr>
            </a:pPr>
            <a:r>
              <a:t>The intelligence and trust layer connecting factory by-products with verified secondary-material buyers.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3200400" cy="1097280"/>
          </a:xfrm>
          <a:prstGeom prst="roundRect">
            <a:avLst/>
          </a:prstGeom>
          <a:solidFill>
            <a:srgbClr val="F0F0F0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EXPLAINABLE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100-point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5029200"/>
            <a:ext cx="3200400" cy="1097280"/>
          </a:xfrm>
          <a:prstGeom prst="round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CURRENT STATUS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Trusted pilot core</a:t>
            </a:r>
          </a:p>
        </p:txBody>
      </p:sp>
      <p:sp>
        <p:nvSpPr>
          <p:cNvPr id="7" name="Donut 6"/>
          <p:cNvSpPr/>
          <p:nvPr/>
        </p:nvSpPr>
        <p:spPr>
          <a:xfrm>
            <a:off x="8229600" y="2286000"/>
            <a:ext cx="3200400" cy="3200400"/>
          </a:xfrm>
          <a:prstGeom prst="donu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CIRCULARMATCH   •   THEME PREVIEW   •   PAGE 1 OF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C143C"/>
                </a:solidFill>
              </a:defRPr>
            </a:pPr>
            <a:r>
              <a:t>02 / THE INDUSTRY BREAKDOWN</a:t>
            </a:r>
          </a:p>
          <a:p>
            <a:pPr>
              <a:defRPr sz="3600" b="1">
                <a:solidFill>
                  <a:srgbClr val="000000"/>
                </a:solidFill>
              </a:defRPr>
            </a:pPr>
            <a:r>
              <a:t>Discovery is solved. Qualification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 bIns="365760" wrap="square"/>
          <a:lstStyle/>
          <a:p>
            <a:pPr algn="ctr">
              <a:spcBef>
                <a:spcPts val="8000"/>
              </a:spcBef>
              <a:defRPr sz="1200" b="1">
                <a:solidFill>
                  <a:srgbClr val="FFFFFF"/>
                </a:solidFill>
              </a:defRPr>
            </a:pPr>
            <a:r>
              <a:t>FAILURE RATE AT BUYER GATE</a:t>
            </a:r>
          </a:p>
          <a:p>
            <a:pPr>
              <a:defRPr sz="7200" b="1">
                <a:solidFill>
                  <a:srgbClr val="FFFFFF"/>
                </a:solidFill>
              </a:defRPr>
            </a:pPr>
            <a:r>
              <a:t>30–60%</a:t>
            </a:r>
          </a:p>
          <a:p>
            <a:pPr>
              <a:spcBef>
                <a:spcPts val="2000"/>
              </a:spcBef>
              <a:defRPr sz="1400">
                <a:solidFill>
                  <a:srgbClr val="FFFFFF"/>
                </a:solidFill>
              </a:defRPr>
            </a:pPr>
            <a:r>
              <a:t>of new-supplier secondary material is rejected upon arrival because specifications, contamination levels, and moisture were never technically qualified upfront.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6858000" cy="1280160"/>
          </a:xfrm>
          <a:prstGeom prst="rect">
            <a:avLst/>
          </a:prstGeom>
          <a:solidFill>
            <a:srgbClr val="F0F0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01 / GENERIC SPECIFICATIONS</a:t>
            </a:r>
          </a:p>
          <a:p>
            <a:pPr>
              <a:spcBef>
                <a:spcPts val="500"/>
              </a:spcBef>
              <a:defRPr sz="1300">
                <a:solidFill>
                  <a:srgbClr val="787878"/>
                </a:solidFill>
              </a:defRPr>
            </a:pPr>
            <a:r>
              <a:t>Informal WhatsApp scrap descriptions omit polymer grade, melt flow index, and moisture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383280"/>
            <a:ext cx="6858000" cy="1280160"/>
          </a:xfrm>
          <a:prstGeom prst="rect">
            <a:avLst/>
          </a:prstGeom>
          <a:solidFill>
            <a:srgbClr val="F0F0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02 / FREIGHT BEFORE PROOF</a:t>
            </a:r>
          </a:p>
          <a:p>
            <a:pPr>
              <a:spcBef>
                <a:spcPts val="500"/>
              </a:spcBef>
              <a:defRPr sz="1300">
                <a:solidFill>
                  <a:srgbClr val="787878"/>
                </a:solidFill>
              </a:defRPr>
            </a:pPr>
            <a:r>
              <a:t>Trucks dispatch before acceptance criteria are locked, generating catastrophic dead-haulage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937760"/>
            <a:ext cx="6858000" cy="1280160"/>
          </a:xfrm>
          <a:prstGeom prst="rect">
            <a:avLst/>
          </a:prstGeom>
          <a:solidFill>
            <a:srgbClr val="F0F0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03 / COMPLIANCE LIABILITIES</a:t>
            </a:r>
          </a:p>
          <a:p>
            <a:pPr>
              <a:spcBef>
                <a:spcPts val="500"/>
              </a:spcBef>
              <a:defRPr sz="1300">
                <a:solidFill>
                  <a:srgbClr val="787878"/>
                </a:solidFill>
              </a:defRPr>
            </a:pPr>
            <a:r>
              <a:t>Informal cash receipts fail statutory SEBI BRSR and CPCB EPR chain-of-custody audit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</a:defRPr>
            </a:pPr>
            <a:r>
              <a:t>CIRCULARMATCH   •   THEME PREVIEW   •   PAGE 2 OF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4A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66E25"/>
                </a:solidFill>
              </a:defRPr>
            </a:pPr>
            <a:r>
              <a:t>EXPERIMENT 16: SUNRISE ECOLOGY   |   FONTS: Trebuchet MS / Calibri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AF29"/>
                </a:solidFill>
              </a:defRPr>
            </a:pPr>
            <a:r>
              <a:t>CIRCULARMATCH</a:t>
            </a:r>
            <a:br/>
            <a:r>
              <a:t>INDUSTRIAL MATERIAL INTELLIGENCE</a:t>
            </a:r>
          </a:p>
          <a:p>
            <a:pPr>
              <a:spcBef>
                <a:spcPts val="1400"/>
              </a:spcBef>
              <a:defRPr sz="4400" b="1">
                <a:solidFill>
                  <a:srgbClr val="3C2814"/>
                </a:solidFill>
              </a:defRPr>
            </a:pPr>
            <a:r>
              <a:t>Turn industrial waste into qualified, compliant value.</a:t>
            </a:r>
          </a:p>
          <a:p>
            <a:pPr>
              <a:spcBef>
                <a:spcPts val="1400"/>
              </a:spcBef>
              <a:defRPr sz="1800">
                <a:solidFill>
                  <a:srgbClr val="8C6E5A"/>
                </a:solidFill>
              </a:defRPr>
            </a:pPr>
            <a:r>
              <a:t>The intelligence and trust layer connecting factory by-products with verified secondary-material buyers.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66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F4AF29"/>
                </a:solidFill>
              </a:defRPr>
            </a:pPr>
            <a:r>
              <a:t>EXPLAINABLE</a:t>
            </a:r>
          </a:p>
          <a:p>
            <a:pPr>
              <a:defRPr sz="1800" b="1">
                <a:solidFill>
                  <a:srgbClr val="3C2814"/>
                </a:solidFill>
              </a:defRPr>
            </a:pPr>
            <a:r>
              <a:t>100-point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5029200"/>
            <a:ext cx="3200400" cy="1097280"/>
          </a:xfrm>
          <a:prstGeom prst="roundRect">
            <a:avLst/>
          </a:prstGeom>
          <a:solidFill>
            <a:srgbClr val="E66E25"/>
          </a:solidFill>
          <a:ln>
            <a:solidFill>
              <a:srgbClr val="E66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FFFBF2"/>
                </a:solidFill>
              </a:defRPr>
            </a:pPr>
            <a:r>
              <a:t>CURRENT STATUS</a:t>
            </a:r>
          </a:p>
          <a:p>
            <a:pPr>
              <a:defRPr sz="1800" b="1">
                <a:solidFill>
                  <a:srgbClr val="FFFBF2"/>
                </a:solidFill>
              </a:defRPr>
            </a:pPr>
            <a:r>
              <a:t>Trusted pilot core</a:t>
            </a:r>
          </a:p>
        </p:txBody>
      </p:sp>
      <p:sp>
        <p:nvSpPr>
          <p:cNvPr id="7" name="Donut 6"/>
          <p:cNvSpPr/>
          <p:nvPr/>
        </p:nvSpPr>
        <p:spPr>
          <a:xfrm>
            <a:off x="8229600" y="2286000"/>
            <a:ext cx="3200400" cy="3200400"/>
          </a:xfrm>
          <a:prstGeom prst="donut">
            <a:avLst/>
          </a:prstGeom>
          <a:solidFill>
            <a:srgbClr val="E66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6E5A"/>
                </a:solidFill>
              </a:defRPr>
            </a:pPr>
            <a:r>
              <a:t>CIRCULARMATCH   •   THEME PREVIEW   •   PAGE 1 OF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6E25"/>
                </a:solidFill>
              </a:defRPr>
            </a:pPr>
            <a:r>
              <a:t>02 / THE INDUSTRY BREAKDOWN</a:t>
            </a:r>
          </a:p>
          <a:p>
            <a:pPr>
              <a:defRPr sz="3600" b="1">
                <a:solidFill>
                  <a:srgbClr val="3C2814"/>
                </a:solidFill>
              </a:defRPr>
            </a:pPr>
            <a:r>
              <a:t>Discovery is solved. Qualification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E66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 bIns="365760" wrap="square"/>
          <a:lstStyle/>
          <a:p>
            <a:pPr algn="ctr">
              <a:spcBef>
                <a:spcPts val="8000"/>
              </a:spcBef>
              <a:defRPr sz="1200" b="1">
                <a:solidFill>
                  <a:srgbClr val="FFFBF2"/>
                </a:solidFill>
              </a:defRPr>
            </a:pPr>
            <a:r>
              <a:t>FAILURE RATE AT BUYER GATE</a:t>
            </a:r>
          </a:p>
          <a:p>
            <a:pPr>
              <a:defRPr sz="7200" b="1">
                <a:solidFill>
                  <a:srgbClr val="FFFBF2"/>
                </a:solidFill>
              </a:defRPr>
            </a:pPr>
            <a:r>
              <a:t>30–60%</a:t>
            </a:r>
          </a:p>
          <a:p>
            <a:pPr>
              <a:spcBef>
                <a:spcPts val="2000"/>
              </a:spcBef>
              <a:defRPr sz="1400">
                <a:solidFill>
                  <a:srgbClr val="FFFBF2"/>
                </a:solidFill>
              </a:defRPr>
            </a:pPr>
            <a:r>
              <a:t>of new-supplier secondary material is rejected upon arrival because specifications, contamination levels, and moisture were never technically qualified upfront.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68580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3C2814"/>
                </a:solidFill>
              </a:defRPr>
            </a:pPr>
            <a:r>
              <a:t>01 / GENERIC SPECIFICATIONS</a:t>
            </a:r>
          </a:p>
          <a:p>
            <a:pPr>
              <a:spcBef>
                <a:spcPts val="500"/>
              </a:spcBef>
              <a:defRPr sz="1300">
                <a:solidFill>
                  <a:srgbClr val="8C6E5A"/>
                </a:solidFill>
              </a:defRPr>
            </a:pPr>
            <a:r>
              <a:t>Informal WhatsApp scrap descriptions omit polymer grade, melt flow index, and moisture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383280"/>
            <a:ext cx="68580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3C2814"/>
                </a:solidFill>
              </a:defRPr>
            </a:pPr>
            <a:r>
              <a:t>02 / FREIGHT BEFORE PROOF</a:t>
            </a:r>
          </a:p>
          <a:p>
            <a:pPr>
              <a:spcBef>
                <a:spcPts val="500"/>
              </a:spcBef>
              <a:defRPr sz="1300">
                <a:solidFill>
                  <a:srgbClr val="8C6E5A"/>
                </a:solidFill>
              </a:defRPr>
            </a:pPr>
            <a:r>
              <a:t>Trucks dispatch before acceptance criteria are locked, generating catastrophic dead-haulage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937760"/>
            <a:ext cx="68580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F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3C2814"/>
                </a:solidFill>
              </a:defRPr>
            </a:pPr>
            <a:r>
              <a:t>03 / COMPLIANCE LIABILITIES</a:t>
            </a:r>
          </a:p>
          <a:p>
            <a:pPr>
              <a:spcBef>
                <a:spcPts val="500"/>
              </a:spcBef>
              <a:defRPr sz="1300">
                <a:solidFill>
                  <a:srgbClr val="8C6E5A"/>
                </a:solidFill>
              </a:defRPr>
            </a:pPr>
            <a:r>
              <a:t>Informal cash receipts fail statutory SEBI BRSR and CPCB EPR chain-of-custody audit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6E5A"/>
                </a:solidFill>
              </a:defRPr>
            </a:pPr>
            <a:r>
              <a:t>CIRCULARMATCH   •   THEME PREVIEW   •   PAGE 2 OF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548640"/>
          </a:xfrm>
          <a:prstGeom prst="roundRect">
            <a:avLst/>
          </a:prstGeom>
          <a:solidFill>
            <a:srgbClr val="193223"/>
          </a:solidFill>
          <a:ln>
            <a:solidFill>
              <a:srgbClr val="F5F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EXPERIMENT 17: INSTITUTIONAL WEALTH   |   FONTS: Times New Roman / 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F5DC"/>
                </a:solidFill>
              </a:defRPr>
            </a:pPr>
            <a:r>
              <a:t>CIRCULARMATCH</a:t>
            </a:r>
            <a:br/>
            <a:r>
              <a:t>INDUSTRIAL MATERIAL INTELLIGENCE</a:t>
            </a:r>
          </a:p>
          <a:p>
            <a:pPr>
              <a:spcBef>
                <a:spcPts val="1400"/>
              </a:spcBef>
              <a:defRPr sz="4400" b="1">
                <a:solidFill>
                  <a:srgbClr val="FAFAF0"/>
                </a:solidFill>
              </a:defRPr>
            </a:pPr>
            <a:r>
              <a:t>Turn industrial waste into qualified, compliant value.</a:t>
            </a:r>
          </a:p>
          <a:p>
            <a:pPr>
              <a:spcBef>
                <a:spcPts val="1400"/>
              </a:spcBef>
              <a:defRPr sz="1800">
                <a:solidFill>
                  <a:srgbClr val="B4BEB4"/>
                </a:solidFill>
              </a:defRPr>
            </a:pPr>
            <a:r>
              <a:t>The intelligence and trust layer connecting factory by-products with verified secondary-material buyers.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3200400" cy="1097280"/>
          </a:xfrm>
          <a:prstGeom prst="roundRect">
            <a:avLst/>
          </a:prstGeom>
          <a:solidFill>
            <a:srgbClr val="19322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F5F5DC"/>
                </a:solidFill>
              </a:defRPr>
            </a:pPr>
            <a:r>
              <a:t>EXPLAINABLE</a:t>
            </a:r>
          </a:p>
          <a:p>
            <a:pPr>
              <a:defRPr sz="1800" b="1">
                <a:solidFill>
                  <a:srgbClr val="FAFAF0"/>
                </a:solidFill>
              </a:defRPr>
            </a:pPr>
            <a:r>
              <a:t>100-point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5029200"/>
            <a:ext cx="3200400" cy="1097280"/>
          </a:xfrm>
          <a:prstGeom prst="round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0F2319"/>
                </a:solidFill>
              </a:defRPr>
            </a:pPr>
            <a:r>
              <a:t>CURRENT STATUS</a:t>
            </a:r>
          </a:p>
          <a:p>
            <a:pPr>
              <a:defRPr sz="1800" b="1">
                <a:solidFill>
                  <a:srgbClr val="0F2319"/>
                </a:solidFill>
              </a:defRPr>
            </a:pPr>
            <a:r>
              <a:t>Trusted pilot core</a:t>
            </a:r>
          </a:p>
        </p:txBody>
      </p:sp>
      <p:sp>
        <p:nvSpPr>
          <p:cNvPr id="7" name="Donut 6"/>
          <p:cNvSpPr/>
          <p:nvPr/>
        </p:nvSpPr>
        <p:spPr>
          <a:xfrm>
            <a:off x="8229600" y="2286000"/>
            <a:ext cx="3200400" cy="3200400"/>
          </a:xfrm>
          <a:prstGeom prst="donu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EB4"/>
                </a:solidFill>
              </a:defRPr>
            </a:pPr>
            <a:r>
              <a:t>CIRCULARMATCH   •   THEME PREVIEW   •   PAGE 1 OF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02 / THE INDUSTRY BREAKDOWN</a:t>
            </a:r>
          </a:p>
          <a:p>
            <a:pPr>
              <a:defRPr sz="3600" b="1">
                <a:solidFill>
                  <a:srgbClr val="FAFAF0"/>
                </a:solidFill>
              </a:defRPr>
            </a:pPr>
            <a:r>
              <a:t>Discovery is solved. Qualification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 bIns="365760" wrap="square"/>
          <a:lstStyle/>
          <a:p>
            <a:pPr algn="ctr">
              <a:spcBef>
                <a:spcPts val="8000"/>
              </a:spcBef>
              <a:defRPr sz="1200" b="1">
                <a:solidFill>
                  <a:srgbClr val="0F2319"/>
                </a:solidFill>
              </a:defRPr>
            </a:pPr>
            <a:r>
              <a:t>FAILURE RATE AT BUYER GATE</a:t>
            </a:r>
          </a:p>
          <a:p>
            <a:pPr>
              <a:defRPr sz="7200" b="1">
                <a:solidFill>
                  <a:srgbClr val="0F2319"/>
                </a:solidFill>
              </a:defRPr>
            </a:pPr>
            <a:r>
              <a:t>30–60%</a:t>
            </a:r>
          </a:p>
          <a:p>
            <a:pPr>
              <a:spcBef>
                <a:spcPts val="2000"/>
              </a:spcBef>
              <a:defRPr sz="1400">
                <a:solidFill>
                  <a:srgbClr val="0F2319"/>
                </a:solidFill>
              </a:defRPr>
            </a:pPr>
            <a:r>
              <a:t>of new-supplier secondary material is rejected upon arrival because specifications, contamination levels, and moisture were never technically qualified upfront.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6858000" cy="1280160"/>
          </a:xfrm>
          <a:prstGeom prst="rect">
            <a:avLst/>
          </a:prstGeom>
          <a:solidFill>
            <a:srgbClr val="193223"/>
          </a:solidFill>
          <a:ln w="25400">
            <a:solidFill>
              <a:srgbClr val="F5F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AFAF0"/>
                </a:solidFill>
              </a:defRPr>
            </a:pPr>
            <a:r>
              <a:t>01 / GENERIC SPECIFICATIONS</a:t>
            </a:r>
          </a:p>
          <a:p>
            <a:pPr>
              <a:spcBef>
                <a:spcPts val="500"/>
              </a:spcBef>
              <a:defRPr sz="1300">
                <a:solidFill>
                  <a:srgbClr val="B4BEB4"/>
                </a:solidFill>
              </a:defRPr>
            </a:pPr>
            <a:r>
              <a:t>Informal WhatsApp scrap descriptions omit polymer grade, melt flow index, and moisture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383280"/>
            <a:ext cx="6858000" cy="1280160"/>
          </a:xfrm>
          <a:prstGeom prst="rect">
            <a:avLst/>
          </a:prstGeom>
          <a:solidFill>
            <a:srgbClr val="193223"/>
          </a:solidFill>
          <a:ln w="25400">
            <a:solidFill>
              <a:srgbClr val="F5F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AFAF0"/>
                </a:solidFill>
              </a:defRPr>
            </a:pPr>
            <a:r>
              <a:t>02 / FREIGHT BEFORE PROOF</a:t>
            </a:r>
          </a:p>
          <a:p>
            <a:pPr>
              <a:spcBef>
                <a:spcPts val="500"/>
              </a:spcBef>
              <a:defRPr sz="1300">
                <a:solidFill>
                  <a:srgbClr val="B4BEB4"/>
                </a:solidFill>
              </a:defRPr>
            </a:pPr>
            <a:r>
              <a:t>Trucks dispatch before acceptance criteria are locked, generating catastrophic dead-haulage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937760"/>
            <a:ext cx="6858000" cy="1280160"/>
          </a:xfrm>
          <a:prstGeom prst="rect">
            <a:avLst/>
          </a:prstGeom>
          <a:solidFill>
            <a:srgbClr val="193223"/>
          </a:solidFill>
          <a:ln w="25400">
            <a:solidFill>
              <a:srgbClr val="F5F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AFAF0"/>
                </a:solidFill>
              </a:defRPr>
            </a:pPr>
            <a:r>
              <a:t>03 / COMPLIANCE LIABILITIES</a:t>
            </a:r>
          </a:p>
          <a:p>
            <a:pPr>
              <a:spcBef>
                <a:spcPts val="500"/>
              </a:spcBef>
              <a:defRPr sz="1300">
                <a:solidFill>
                  <a:srgbClr val="B4BEB4"/>
                </a:solidFill>
              </a:defRPr>
            </a:pPr>
            <a:r>
              <a:t>Informal cash receipts fail statutory SEBI BRSR and CPCB EPR chain-of-custody audit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EB4"/>
                </a:solidFill>
              </a:defRPr>
            </a:pPr>
            <a:r>
              <a:t>CIRCULARMATCH   •   THEME PREVIEW   •   PAGE 2 OF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548640"/>
          </a:xfrm>
          <a:prstGeom prst="roundRect">
            <a:avLst/>
          </a:prstGeom>
          <a:solidFill>
            <a:srgbClr val="1E5096"/>
          </a:solidFill>
          <a:ln>
            <a:solidFill>
              <a:srgbClr val="FFD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EXPERIMENT 18: INDUSTRIAL BLUEPRINT   |   FONTS: Courier New / Consolas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232"/>
                </a:solidFill>
              </a:defRPr>
            </a:pPr>
            <a:r>
              <a:t>CIRCULARMATCH</a:t>
            </a:r>
            <a:br/>
            <a:r>
              <a:t>INDUSTRIAL MATERIAL INTELLIGENCE</a:t>
            </a:r>
          </a:p>
          <a:p>
            <a:pPr>
              <a:spcBef>
                <a:spcPts val="1400"/>
              </a:spcBef>
              <a:defRPr sz="4400" b="1">
                <a:solidFill>
                  <a:srgbClr val="FFFFFF"/>
                </a:solidFill>
              </a:defRPr>
            </a:pPr>
            <a:r>
              <a:t>Turn industrial waste into qualified, compliant value.</a:t>
            </a:r>
          </a:p>
          <a:p>
            <a:pPr>
              <a:spcBef>
                <a:spcPts val="1400"/>
              </a:spcBef>
              <a:defRPr sz="1800">
                <a:solidFill>
                  <a:srgbClr val="B4C8E6"/>
                </a:solidFill>
              </a:defRPr>
            </a:pPr>
            <a:r>
              <a:t>The intelligence and trust layer connecting factory by-products with verified secondary-material buyers.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3200400" cy="1097280"/>
          </a:xfrm>
          <a:prstGeom prst="roundRect">
            <a:avLst/>
          </a:prstGeom>
          <a:solidFill>
            <a:srgbClr val="1E50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FFD232"/>
                </a:solidFill>
              </a:defRPr>
            </a:pPr>
            <a:r>
              <a:t>EXPLAINABLE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100-point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50292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143C78"/>
                </a:solidFill>
              </a:defRPr>
            </a:pPr>
            <a:r>
              <a:t>CURRENT STATUS</a:t>
            </a:r>
          </a:p>
          <a:p>
            <a:pPr>
              <a:defRPr sz="1800" b="1">
                <a:solidFill>
                  <a:srgbClr val="143C78"/>
                </a:solidFill>
              </a:defRPr>
            </a:pPr>
            <a:r>
              <a:t>Trusted pilot core</a:t>
            </a:r>
          </a:p>
        </p:txBody>
      </p:sp>
      <p:sp>
        <p:nvSpPr>
          <p:cNvPr id="7" name="Donut 6"/>
          <p:cNvSpPr/>
          <p:nvPr/>
        </p:nvSpPr>
        <p:spPr>
          <a:xfrm>
            <a:off x="8229600" y="2286000"/>
            <a:ext cx="3200400" cy="3200400"/>
          </a:xfrm>
          <a:prstGeom prst="don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E6"/>
                </a:solidFill>
              </a:defRPr>
            </a:pPr>
            <a:r>
              <a:t>CIRCULARMATCH   •   THEME PREVIEW   •   PAGE 1 OF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02 / THE INDUSTRY BREAKDOWN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Discovery is solved. Qualification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 bIns="365760" wrap="square"/>
          <a:lstStyle/>
          <a:p>
            <a:pPr algn="ctr">
              <a:spcBef>
                <a:spcPts val="8000"/>
              </a:spcBef>
              <a:defRPr sz="1200" b="1">
                <a:solidFill>
                  <a:srgbClr val="143C78"/>
                </a:solidFill>
              </a:defRPr>
            </a:pPr>
            <a:r>
              <a:t>FAILURE RATE AT BUYER GATE</a:t>
            </a:r>
          </a:p>
          <a:p>
            <a:pPr>
              <a:defRPr sz="7200" b="1">
                <a:solidFill>
                  <a:srgbClr val="143C78"/>
                </a:solidFill>
              </a:defRPr>
            </a:pPr>
            <a:r>
              <a:t>30–60%</a:t>
            </a:r>
          </a:p>
          <a:p>
            <a:pPr>
              <a:spcBef>
                <a:spcPts val="2000"/>
              </a:spcBef>
              <a:defRPr sz="1400">
                <a:solidFill>
                  <a:srgbClr val="143C78"/>
                </a:solidFill>
              </a:defRPr>
            </a:pPr>
            <a:r>
              <a:t>of new-supplier secondary material is rejected upon arrival because specifications, contamination levels, and moisture were never technically qualified upfront.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6858000" cy="1280160"/>
          </a:xfrm>
          <a:prstGeom prst="rect">
            <a:avLst/>
          </a:prstGeom>
          <a:solidFill>
            <a:srgbClr val="1E5096"/>
          </a:solidFill>
          <a:ln w="25400">
            <a:solidFill>
              <a:srgbClr val="FFD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 / GENERIC SPECIFICATIONS</a:t>
            </a:r>
          </a:p>
          <a:p>
            <a:pPr>
              <a:spcBef>
                <a:spcPts val="500"/>
              </a:spcBef>
              <a:defRPr sz="1300">
                <a:solidFill>
                  <a:srgbClr val="B4C8E6"/>
                </a:solidFill>
              </a:defRPr>
            </a:pPr>
            <a:r>
              <a:t>Informal WhatsApp scrap descriptions omit polymer grade, melt flow index, and moisture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383280"/>
            <a:ext cx="6858000" cy="1280160"/>
          </a:xfrm>
          <a:prstGeom prst="rect">
            <a:avLst/>
          </a:prstGeom>
          <a:solidFill>
            <a:srgbClr val="1E5096"/>
          </a:solidFill>
          <a:ln w="25400">
            <a:solidFill>
              <a:srgbClr val="FFD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 / FREIGHT BEFORE PROOF</a:t>
            </a:r>
          </a:p>
          <a:p>
            <a:pPr>
              <a:spcBef>
                <a:spcPts val="500"/>
              </a:spcBef>
              <a:defRPr sz="1300">
                <a:solidFill>
                  <a:srgbClr val="B4C8E6"/>
                </a:solidFill>
              </a:defRPr>
            </a:pPr>
            <a:r>
              <a:t>Trucks dispatch before acceptance criteria are locked, generating catastrophic dead-haulage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937760"/>
            <a:ext cx="6858000" cy="1280160"/>
          </a:xfrm>
          <a:prstGeom prst="rect">
            <a:avLst/>
          </a:prstGeom>
          <a:solidFill>
            <a:srgbClr val="1E5096"/>
          </a:solidFill>
          <a:ln w="25400">
            <a:solidFill>
              <a:srgbClr val="FFD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 / COMPLIANCE LIABILITIES</a:t>
            </a:r>
          </a:p>
          <a:p>
            <a:pPr>
              <a:spcBef>
                <a:spcPts val="500"/>
              </a:spcBef>
              <a:defRPr sz="1300">
                <a:solidFill>
                  <a:srgbClr val="B4C8E6"/>
                </a:solidFill>
              </a:defRPr>
            </a:pPr>
            <a:r>
              <a:t>Informal cash receipts fail statutory SEBI BRSR and CPCB EPR chain-of-custody audit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8E6"/>
                </a:solidFill>
              </a:defRPr>
            </a:pPr>
            <a:r>
              <a:t>CIRCULARMATCH   •   THEME PREVIEW   •   PAGE 2 OF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548640"/>
          </a:xfrm>
          <a:prstGeom prst="roundRect">
            <a:avLst/>
          </a:prstGeom>
          <a:solidFill>
            <a:srgbClr val="28190F"/>
          </a:solidFill>
          <a:ln>
            <a:solidFill>
              <a:srgbClr val="6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000"/>
                </a:solidFill>
              </a:defRPr>
            </a:pPr>
            <a:r>
              <a:t>EXPERIMENT 19: RETRO TERMINAL   |   FONTS: Consolas / Lucida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FF00"/>
                </a:solidFill>
              </a:defRPr>
            </a:pPr>
            <a:r>
              <a:t>CIRCULARMATCH</a:t>
            </a:r>
            <a:br/>
            <a:r>
              <a:t>INDUSTRIAL MATERIAL INTELLIGENCE</a:t>
            </a:r>
          </a:p>
          <a:p>
            <a:pPr>
              <a:spcBef>
                <a:spcPts val="1400"/>
              </a:spcBef>
              <a:defRPr sz="4400" b="1">
                <a:solidFill>
                  <a:srgbClr val="FFC864"/>
                </a:solidFill>
              </a:defRPr>
            </a:pPr>
            <a:r>
              <a:t>Turn industrial waste into qualified, compliant value.</a:t>
            </a:r>
          </a:p>
          <a:p>
            <a:pPr>
              <a:spcBef>
                <a:spcPts val="1400"/>
              </a:spcBef>
              <a:defRPr sz="1800">
                <a:solidFill>
                  <a:srgbClr val="966432"/>
                </a:solidFill>
              </a:defRPr>
            </a:pPr>
            <a:r>
              <a:t>The intelligence and trust layer connecting factory by-products with verified secondary-material buyers.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3200400" cy="1097280"/>
          </a:xfrm>
          <a:prstGeom prst="roundRect">
            <a:avLst/>
          </a:prstGeom>
          <a:solidFill>
            <a:srgbClr val="28190F"/>
          </a:solidFill>
          <a:ln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64FF00"/>
                </a:solidFill>
              </a:defRPr>
            </a:pPr>
            <a:r>
              <a:t>EXPLAINABLE</a:t>
            </a:r>
          </a:p>
          <a:p>
            <a:pPr>
              <a:defRPr sz="1800" b="1">
                <a:solidFill>
                  <a:srgbClr val="FFC864"/>
                </a:solidFill>
              </a:defRPr>
            </a:pPr>
            <a:r>
              <a:t>100-point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5029200"/>
            <a:ext cx="3200400" cy="1097280"/>
          </a:xfrm>
          <a:prstGeom prst="roundRect">
            <a:avLst/>
          </a:prstGeom>
          <a:solidFill>
            <a:srgbClr val="FFB000"/>
          </a:solidFill>
          <a:ln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140F0A"/>
                </a:solidFill>
              </a:defRPr>
            </a:pPr>
            <a:r>
              <a:t>CURRENT STATUS</a:t>
            </a:r>
          </a:p>
          <a:p>
            <a:pPr>
              <a:defRPr sz="1800" b="1">
                <a:solidFill>
                  <a:srgbClr val="140F0A"/>
                </a:solidFill>
              </a:defRPr>
            </a:pPr>
            <a:r>
              <a:t>Trusted pilot core</a:t>
            </a:r>
          </a:p>
        </p:txBody>
      </p:sp>
      <p:sp>
        <p:nvSpPr>
          <p:cNvPr id="7" name="Donut 6"/>
          <p:cNvSpPr/>
          <p:nvPr/>
        </p:nvSpPr>
        <p:spPr>
          <a:xfrm>
            <a:off x="8229600" y="2286000"/>
            <a:ext cx="3200400" cy="3200400"/>
          </a:xfrm>
          <a:prstGeom prst="donu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6432"/>
                </a:solidFill>
              </a:defRPr>
            </a:pPr>
            <a:r>
              <a:t>CIRCULARMATCH   •   THEME PREVIEW   •   PAGE 1 OF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000"/>
                </a:solidFill>
              </a:defRPr>
            </a:pPr>
            <a:r>
              <a:t>02 / THE INDUSTRY BREAKDOWN</a:t>
            </a:r>
          </a:p>
          <a:p>
            <a:pPr>
              <a:defRPr sz="3600" b="1">
                <a:solidFill>
                  <a:srgbClr val="FFC864"/>
                </a:solidFill>
              </a:defRPr>
            </a:pPr>
            <a:r>
              <a:t>Discovery is solved. Qualification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 bIns="365760" wrap="square"/>
          <a:lstStyle/>
          <a:p>
            <a:pPr algn="ctr">
              <a:spcBef>
                <a:spcPts val="8000"/>
              </a:spcBef>
              <a:defRPr sz="1200" b="1">
                <a:solidFill>
                  <a:srgbClr val="140F0A"/>
                </a:solidFill>
              </a:defRPr>
            </a:pPr>
            <a:r>
              <a:t>FAILURE RATE AT BUYER GATE</a:t>
            </a:r>
          </a:p>
          <a:p>
            <a:pPr>
              <a:defRPr sz="7200" b="1">
                <a:solidFill>
                  <a:srgbClr val="140F0A"/>
                </a:solidFill>
              </a:defRPr>
            </a:pPr>
            <a:r>
              <a:t>30–60%</a:t>
            </a:r>
          </a:p>
          <a:p>
            <a:pPr>
              <a:spcBef>
                <a:spcPts val="2000"/>
              </a:spcBef>
              <a:defRPr sz="1400">
                <a:solidFill>
                  <a:srgbClr val="140F0A"/>
                </a:solidFill>
              </a:defRPr>
            </a:pPr>
            <a:r>
              <a:t>of new-supplier secondary material is rejected upon arrival because specifications, contamination levels, and moisture were never technically qualified upfront.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6858000" cy="1280160"/>
          </a:xfrm>
          <a:prstGeom prst="rect">
            <a:avLst/>
          </a:prstGeom>
          <a:solidFill>
            <a:srgbClr val="28190F"/>
          </a:solidFill>
          <a:ln w="25400">
            <a:solidFill>
              <a:srgbClr val="6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FC864"/>
                </a:solidFill>
              </a:defRPr>
            </a:pPr>
            <a:r>
              <a:t>01 / GENERIC SPECIFICATIONS</a:t>
            </a:r>
          </a:p>
          <a:p>
            <a:pPr>
              <a:spcBef>
                <a:spcPts val="500"/>
              </a:spcBef>
              <a:defRPr sz="1300">
                <a:solidFill>
                  <a:srgbClr val="966432"/>
                </a:solidFill>
              </a:defRPr>
            </a:pPr>
            <a:r>
              <a:t>Informal WhatsApp scrap descriptions omit polymer grade, melt flow index, and moisture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383280"/>
            <a:ext cx="6858000" cy="1280160"/>
          </a:xfrm>
          <a:prstGeom prst="rect">
            <a:avLst/>
          </a:prstGeom>
          <a:solidFill>
            <a:srgbClr val="28190F"/>
          </a:solidFill>
          <a:ln w="25400">
            <a:solidFill>
              <a:srgbClr val="6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FC864"/>
                </a:solidFill>
              </a:defRPr>
            </a:pPr>
            <a:r>
              <a:t>02 / FREIGHT BEFORE PROOF</a:t>
            </a:r>
          </a:p>
          <a:p>
            <a:pPr>
              <a:spcBef>
                <a:spcPts val="500"/>
              </a:spcBef>
              <a:defRPr sz="1300">
                <a:solidFill>
                  <a:srgbClr val="966432"/>
                </a:solidFill>
              </a:defRPr>
            </a:pPr>
            <a:r>
              <a:t>Trucks dispatch before acceptance criteria are locked, generating catastrophic dead-haulage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937760"/>
            <a:ext cx="6858000" cy="1280160"/>
          </a:xfrm>
          <a:prstGeom prst="rect">
            <a:avLst/>
          </a:prstGeom>
          <a:solidFill>
            <a:srgbClr val="28190F"/>
          </a:solidFill>
          <a:ln w="25400">
            <a:solidFill>
              <a:srgbClr val="6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FFC864"/>
                </a:solidFill>
              </a:defRPr>
            </a:pPr>
            <a:r>
              <a:t>03 / COMPLIANCE LIABILITIES</a:t>
            </a:r>
          </a:p>
          <a:p>
            <a:pPr>
              <a:spcBef>
                <a:spcPts val="500"/>
              </a:spcBef>
              <a:defRPr sz="1300">
                <a:solidFill>
                  <a:srgbClr val="966432"/>
                </a:solidFill>
              </a:defRPr>
            </a:pPr>
            <a:r>
              <a:t>Informal cash receipts fail statutory SEBI BRSR and CPCB EPR chain-of-custody audit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6432"/>
                </a:solidFill>
              </a:defRPr>
            </a:pPr>
            <a:r>
              <a:t>CIRCULARMATCH   •   THEME PREVIEW   •   PAGE 2 OF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EXPERIMENT 20: CLEAN AEROSPACE   |   FONTS: Segoe UI / 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CIRCULARMATCH</a:t>
            </a:r>
            <a:br/>
            <a:r>
              <a:t>INDUSTRIAL MATERIAL INTELLIGENCE</a:t>
            </a:r>
          </a:p>
          <a:p>
            <a:pPr>
              <a:spcBef>
                <a:spcPts val="1400"/>
              </a:spcBef>
              <a:defRPr sz="4400" b="1">
                <a:solidFill>
                  <a:srgbClr val="0F172A"/>
                </a:solidFill>
              </a:defRPr>
            </a:pPr>
            <a:r>
              <a:t>Turn industrial waste into qualified, compliant value.</a:t>
            </a:r>
          </a:p>
          <a:p>
            <a:pPr>
              <a:spcBef>
                <a:spcPts val="1400"/>
              </a:spcBef>
              <a:defRPr sz="1800">
                <a:solidFill>
                  <a:srgbClr val="64748B"/>
                </a:solidFill>
              </a:defRPr>
            </a:pPr>
            <a:r>
              <a:t>The intelligence and trust layer connecting factory by-products with verified secondary-material buyers.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EXPLAINABLE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100-point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5029200"/>
            <a:ext cx="320040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CURRENT STATUS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Trusted pilot core</a:t>
            </a:r>
          </a:p>
        </p:txBody>
      </p:sp>
      <p:sp>
        <p:nvSpPr>
          <p:cNvPr id="7" name="Donut 6"/>
          <p:cNvSpPr/>
          <p:nvPr/>
        </p:nvSpPr>
        <p:spPr>
          <a:xfrm>
            <a:off x="8229600" y="2286000"/>
            <a:ext cx="3200400" cy="3200400"/>
          </a:xfrm>
          <a:prstGeom prst="donu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CIRCULARMATCH   •   THEME PREVIEW   •   PAGE 1 OF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02 / THE INDUSTRY BREAKDOWN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Discovery is solved. Qualification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4389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 bIns="365760" wrap="square"/>
          <a:lstStyle/>
          <a:p>
            <a:pPr algn="ctr">
              <a:spcBef>
                <a:spcPts val="8000"/>
              </a:spcBef>
              <a:defRPr sz="1200" b="1">
                <a:solidFill>
                  <a:srgbClr val="F8FAFC"/>
                </a:solidFill>
              </a:defRPr>
            </a:pPr>
            <a:r>
              <a:t>FAILURE RATE AT BUYER GATE</a:t>
            </a:r>
          </a:p>
          <a:p>
            <a:pPr>
              <a:defRPr sz="7200" b="1">
                <a:solidFill>
                  <a:srgbClr val="F8FAFC"/>
                </a:solidFill>
              </a:defRPr>
            </a:pPr>
            <a:r>
              <a:t>30–60%</a:t>
            </a:r>
          </a:p>
          <a:p>
            <a:pPr>
              <a:spcBef>
                <a:spcPts val="2000"/>
              </a:spcBef>
              <a:defRPr sz="1400">
                <a:solidFill>
                  <a:srgbClr val="F8FAFC"/>
                </a:solidFill>
              </a:defRPr>
            </a:pPr>
            <a:r>
              <a:t>of new-supplier secondary material is rejected upon arrival because specifications, contamination levels, and moisture were never technically qualified upfront.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68580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01 / GENERIC SPECIFICATIONS</a:t>
            </a:r>
          </a:p>
          <a:p>
            <a:pPr>
              <a:spcBef>
                <a:spcPts val="500"/>
              </a:spcBef>
              <a:defRPr sz="1300">
                <a:solidFill>
                  <a:srgbClr val="64748B"/>
                </a:solidFill>
              </a:defRPr>
            </a:pPr>
            <a:r>
              <a:t>Informal WhatsApp scrap descriptions omit polymer grade, melt flow index, and moisture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383280"/>
            <a:ext cx="68580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02 / FREIGHT BEFORE PROOF</a:t>
            </a:r>
          </a:p>
          <a:p>
            <a:pPr>
              <a:spcBef>
                <a:spcPts val="500"/>
              </a:spcBef>
              <a:defRPr sz="1300">
                <a:solidFill>
                  <a:srgbClr val="64748B"/>
                </a:solidFill>
              </a:defRPr>
            </a:pPr>
            <a:r>
              <a:t>Trucks dispatch before acceptance criteria are locked, generating catastrophic dead-haulage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937760"/>
            <a:ext cx="68580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03 / COMPLIANCE LIABILITIES</a:t>
            </a:r>
          </a:p>
          <a:p>
            <a:pPr>
              <a:spcBef>
                <a:spcPts val="500"/>
              </a:spcBef>
              <a:defRPr sz="1300">
                <a:solidFill>
                  <a:srgbClr val="64748B"/>
                </a:solidFill>
              </a:defRPr>
            </a:pPr>
            <a:r>
              <a:t>Informal cash receipts fail statutory SEBI BRSR and CPCB EPR chain-of-custody audit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CIRCULARMATCH   •   THEME PREVIEW   •   PAGE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