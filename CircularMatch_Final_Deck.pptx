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17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8521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34D399"/>
                </a:solidFill>
                <a:latin typeface="Outfit"/>
              </a:rPr>
              <a:t>●  HACKDAY 1.0 (DECODEP)  ·  SUSTAINTECH 2026  ·  CLEANTECH AI</a:t>
            </a:r>
          </a:p>
          <a:p>
            <a:pPr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Outfit"/>
              </a:rPr>
              <a:t>CircularMatch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Outfit"/>
              </a:rPr>
              <a:t>Turn industrial waste into qualified, compliant value.</a:t>
            </a:r>
          </a:p>
          <a:p>
            <a:r>
              <a:rPr sz="1100" b="0">
                <a:solidFill>
                  <a:srgbClr val="E2E8F0"/>
                </a:solidFill>
                <a:latin typeface="Outfit"/>
              </a:rPr>
              <a:t>AI-Assisted Secondary Material Qualification &amp; Deterministic Matching Platform. Standardizing plain-language industrial waste into verified Material Passports and matching with mathematical explainability.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2852928" cy="1051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💬 Plain-Text AI Parser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Gemini 2.0 structures messy scrap notes into validated JSON schema in &lt;60s.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2788920"/>
            <a:ext cx="2852928" cy="1051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📋 ISO 59040 Passports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Digital Material Passports tracking grade, moisture, lot origin &amp; custody.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852928" cy="1051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🎯 100-Pt Deterministic Engine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5-dimension auditable scoring with hard pre-screening eligibility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3931920"/>
            <a:ext cx="2852928" cy="1051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⚖️ SEBI BRSR &amp; EPR Trail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Generates statutory compliance records that make off-platform trading risky.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5824728" cy="1143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🏆  SOLO CREATOR &amp; SYSTEM ARCHITECT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Outfit"/>
              </a:rPr>
              <a:t>Architect &amp; Lead Engineer: </a:t>
            </a:r>
            <a:r>
              <a:rPr sz="1100" b="1">
                <a:solidFill>
                  <a:srgbClr val="FFFFFF"/>
                </a:solidFill>
                <a:latin typeface="Outfit"/>
              </a:rPr>
              <a:t>Shivansh Gupta  </a:t>
            </a:r>
            <a:r>
              <a:rPr sz="950" b="0">
                <a:solidFill>
                  <a:srgbClr val="94A3B8"/>
                </a:solidFill>
                <a:latin typeface="Outfit"/>
              </a:rPr>
              <a:t>|  Institution: </a:t>
            </a:r>
            <a:r>
              <a:rPr sz="950" b="1">
                <a:solidFill>
                  <a:srgbClr val="38BDF8"/>
                </a:solidFill>
                <a:latin typeface="Outfit"/>
              </a:rPr>
              <a:t>G.L. Bajaj ITM, Greater Noida</a:t>
            </a:r>
          </a:p>
          <a:p>
            <a:r>
              <a:rPr sz="950" b="0">
                <a:solidFill>
                  <a:srgbClr val="94A3B8"/>
                </a:solidFill>
                <a:latin typeface="Outfit"/>
              </a:rPr>
              <a:t>Live Deployment: </a:t>
            </a:r>
            <a:r>
              <a:rPr sz="950" b="1">
                <a:solidFill>
                  <a:srgbClr val="34D399"/>
                </a:solidFill>
                <a:latin typeface="Outfit"/>
              </a:rPr>
              <a:t>circularmatch.vercel.app  </a:t>
            </a:r>
            <a:r>
              <a:rPr sz="950" b="0">
                <a:solidFill>
                  <a:srgbClr val="94A3B8"/>
                </a:solidFill>
                <a:latin typeface="Outfit"/>
              </a:rPr>
              <a:t>|  Repository: </a:t>
            </a:r>
            <a:r>
              <a:rPr sz="900" b="0">
                <a:solidFill>
                  <a:srgbClr val="E2E8F0"/>
                </a:solidFill>
                <a:latin typeface="Outfit"/>
              </a:rPr>
              <a:t>github.com/shivanshguptaa070-del/circularmatch</a:t>
            </a:r>
          </a:p>
        </p:txBody>
      </p:sp>
      <p:pic>
        <p:nvPicPr>
          <p:cNvPr id="10" name="Picture 9" descr="slide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640080"/>
            <a:ext cx="4645152" cy="29032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4023360"/>
            <a:ext cx="4645152" cy="237744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⚡  AUDITED PERFORMANCE &amp; SPECIFICATIONS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7185"/>
                </a:solidFill>
                <a:latin typeface="Outfit"/>
              </a:rPr>
              <a:t>30–60% Gate Rejection Rate Eliminated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Pre-screening eligibility gates eliminate bad batches before trucks depart, saving 100% of freight loss.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100% Verifiable SEBI BRSR &amp; EPR Compliance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Replaces informal broker chits with ISO 59040 Digital Material Passports for statutory audit.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Deterministic Engine v2 + Gemini 2.0 Flash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Strict temp=0.0 schema extraction paired with auditable 5-dimension scoring across 7 automated test suites.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02 · THE PROBLEM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India's factories pay to discard materials that other factories pay to import.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The gap is not material availability. It is qualification, trust, and matching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A1010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7185"/>
                </a:solidFill>
                <a:latin typeface="Outfit"/>
              </a:rPr>
              <a:t>DISPOSAL COST LIABILITY (SINGLE NOIDA FACTORY)</a:t>
            </a:r>
          </a:p>
          <a:p>
            <a:pPr>
              <a:spcAft>
                <a:spcPts val="0"/>
              </a:spcAft>
            </a:pPr>
            <a:r>
              <a:rPr sz="7200" b="1">
                <a:solidFill>
                  <a:srgbClr val="FBBF24"/>
                </a:solidFill>
                <a:latin typeface="Outfit"/>
              </a:rPr>
              <a:t>₹20,800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E2E8F0"/>
                </a:solidFill>
                <a:latin typeface="Outfit"/>
              </a:rPr>
              <a:t>per week  (Disposing 2,600 kg clean PET scrap @ ₹8.00/kg fee)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Outfit"/>
              </a:rPr>
              <a:t>● Direct Cash Drain: </a:t>
            </a:r>
            <a:r>
              <a:rPr sz="1100" b="0">
                <a:solidFill>
                  <a:srgbClr val="FFFFFF"/>
                </a:solidFill>
                <a:latin typeface="Outfit"/>
              </a:rPr>
              <a:t>₹10.8 Lakhs/year paid to scrap dealers to haul away usable plastic.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Outfit"/>
              </a:rPr>
              <a:t>● Downcycling Destruction: </a:t>
            </a:r>
            <a:r>
              <a:rPr sz="1100" b="0">
                <a:solidFill>
                  <a:srgbClr val="E2E8F0"/>
                </a:solidFill>
                <a:latin typeface="Outfit"/>
              </a:rPr>
              <a:t>Brokers mix pristine injection moulding scrap with contaminated municipal waste.</a:t>
            </a:r>
          </a:p>
          <a:p>
            <a:r>
              <a:rPr sz="1100" b="0">
                <a:solidFill>
                  <a:srgbClr val="94A3B8"/>
                </a:solidFill>
                <a:latin typeface="Outfit"/>
              </a:rPr>
              <a:t>● The Irony: </a:t>
            </a:r>
            <a:r>
              <a:rPr sz="1100" b="1">
                <a:solidFill>
                  <a:srgbClr val="38BDF8"/>
                </a:solidFill>
                <a:latin typeface="Outfit"/>
              </a:rPr>
              <a:t>Recyclers in Manesar (48 km away) buy virgin PET at ₹28–32/kg due to lack of trusted supply.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33695" cy="39319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Outfit"/>
              </a:rPr>
              <a:t>THE BROKEN INFORMAL INTERMEDIARY CHAIN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7185"/>
                </a:solidFill>
                <a:latin typeface="Outfit"/>
              </a:rPr>
              <a:t>❌  1. Fragmented Communication (WhatsApp &amp; Calls)</a:t>
            </a:r>
          </a:p>
          <a:p>
            <a:pPr>
              <a:spcAft>
                <a:spcPts val="8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Material details described in vague terms with zero technical data sheet, moisture, or contamination specs.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7185"/>
                </a:solidFill>
                <a:latin typeface="Outfit"/>
              </a:rPr>
              <a:t>❌  2. Opaque Middlemen &amp; Margin Bleed</a:t>
            </a:r>
          </a:p>
          <a:p>
            <a:pPr>
              <a:spcAft>
                <a:spcPts val="8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Informal scrap dealers take large cuts, obscure the source, and fail to provide statutory GST/EPR invoices.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7185"/>
                </a:solidFill>
                <a:latin typeface="Outfit"/>
              </a:rPr>
              <a:t>❌  3. 30–60% Gate Rejections at Buyer Site</a:t>
            </a:r>
          </a:p>
          <a:p>
            <a:pPr>
              <a:spcAft>
                <a:spcPts val="8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Trucks arrive at recycler; batches fail manual inspection; loads turned back at 100% wasted haulage cost.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❌  4. Statutory Liability Under Mandatory BRSR</a:t>
            </a:r>
          </a:p>
          <a:p>
            <a:pPr>
              <a:spcAft>
                <a:spcPts val="8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SEBI legally mandates top 1,000 listed firms prove recycling trails — informal slips fail regulatory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4D399"/>
                </a:solidFill>
                <a:latin typeface="Outfit"/>
              </a:rPr>
              <a:t>Source Documentation: </a:t>
            </a:r>
            <a:r>
              <a:rPr sz="950" b="0">
                <a:solidFill>
                  <a:srgbClr val="E2E8F0"/>
                </a:solidFill>
                <a:latin typeface="Outfit"/>
              </a:rPr>
              <a:t>CPCB Annual Report — India generates 62M tonnes solid waste annually. 40%+ of pre-consumer recyclable industrial waste is degraded or landfilled due to absence of regional qualification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03 · MARKET FAILURE &amp; TRANSFORMATION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Discovery is solved. Qualification is not.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Existing ad boards list waste. They cannot verify it, grade it, or route it with precision.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1A1010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B7185"/>
                </a:solidFill>
                <a:latin typeface="Outfit"/>
              </a:rPr>
              <a:t>LEGACY CHANNELS (CLASSIFIEDS &amp; BROKERS)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❌  Generic classified ad boards: </a:t>
            </a:r>
            <a:r>
              <a:rPr sz="950" b="0">
                <a:solidFill>
                  <a:srgbClr val="94A3B8"/>
                </a:solidFill>
                <a:latin typeface="Outfit"/>
              </a:rPr>
              <a:t>Free-text descriptions with zero technical parameters, polymer grade, or melt flow specs.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❌  Unverified 'Grade A' claims: </a:t>
            </a:r>
            <a:r>
              <a:rPr sz="950" b="0">
                <a:solidFill>
                  <a:srgbClr val="94A3B8"/>
                </a:solidFill>
                <a:latin typeface="Outfit"/>
              </a:rPr>
              <a:t>Zero external verification causing 30–60% gate rejections upon physical truck arrival.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❌  No logistics or schedule alignment: </a:t>
            </a:r>
            <a:r>
              <a:rPr sz="950" b="0">
                <a:solidFill>
                  <a:srgbClr val="94A3B8"/>
                </a:solidFill>
                <a:latin typeface="Outfit"/>
              </a:rPr>
              <a:t>Buyer and seller geographically misaligned; freight costs swallow all material margin.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❌  Black-box subjective pricing: </a:t>
            </a:r>
            <a:r>
              <a:rPr sz="950" b="0">
                <a:solidFill>
                  <a:srgbClr val="94A3B8"/>
                </a:solidFill>
                <a:latin typeface="Outfit"/>
              </a:rPr>
              <a:t>Opaque dealers manipulate spot rates with zero formulaic or historical basis.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❌  Zero ISO compliance documentation: </a:t>
            </a:r>
            <a:r>
              <a:rPr sz="950" b="0">
                <a:solidFill>
                  <a:srgbClr val="94A3B8"/>
                </a:solidFill>
                <a:latin typeface="Outfit"/>
              </a:rPr>
              <a:t>Informal cash chits provide zero digital trail for statutory SEBI BRSR audits.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❌  High buyer search friction: </a:t>
            </a:r>
            <a:r>
              <a:rPr sz="950" b="0">
                <a:solidFill>
                  <a:srgbClr val="94A3B8"/>
                </a:solidFill>
                <a:latin typeface="Outfit"/>
              </a:rPr>
              <a:t>Procurement teams spend 2–3 weeks calling unvetted contacts for a single batch.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43484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Outfit"/>
              </a:rPr>
              <a:t>THE CIRCULARMATCH PARADIGM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✅  AI structured extraction (&lt;60s): </a:t>
            </a:r>
            <a:r>
              <a:rPr sz="950" b="0">
                <a:solidFill>
                  <a:srgbClr val="E2E8F0"/>
                </a:solidFill>
                <a:latin typeface="Outfit"/>
              </a:rPr>
              <a:t>Gemini 2.0 Flash transforms plain language into strict schema-validated JSON records.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✅  ISO 59040 Digital Material Passports: </a:t>
            </a:r>
            <a:r>
              <a:rPr sz="950" b="0">
                <a:solidFill>
                  <a:srgbClr val="E2E8F0"/>
                </a:solidFill>
                <a:latin typeface="Outfit"/>
              </a:rPr>
              <a:t>4-tier verification hierarchy (Self-Declared → Commercial → Lab Certified).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✅  100-Point deterministic matching: </a:t>
            </a:r>
            <a:r>
              <a:rPr sz="950" b="0">
                <a:solidFill>
                  <a:srgbClr val="E2E8F0"/>
                </a:solidFill>
                <a:latin typeface="Outfit"/>
              </a:rPr>
              <a:t>Auditable 5-dimension engine scoring compatibility, quality, quantity, logistics &amp; evidence.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✅  Pre-screened eligibility gates: </a:t>
            </a:r>
            <a:r>
              <a:rPr sz="950" b="0">
                <a:solidFill>
                  <a:srgbClr val="E2E8F0"/>
                </a:solidFill>
                <a:latin typeface="Outfit"/>
              </a:rPr>
              <a:t>Hard gating eliminates contaminated batches before transport — zero gate turnbacks.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✅  Built-in Scope 3 LCA carbon math: </a:t>
            </a:r>
            <a:r>
              <a:rPr sz="950" b="0">
                <a:solidFill>
                  <a:srgbClr val="E2E8F0"/>
                </a:solidFill>
                <a:latin typeface="Outfit"/>
              </a:rPr>
              <a:t>Calculates net avoided CO₂e using ISO 59020:2024 and GHG Protocol Scope 3 Cat. 5.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✅  Statutory audit compliance trail: </a:t>
            </a:r>
            <a:r>
              <a:rPr sz="950" b="0">
                <a:solidFill>
                  <a:srgbClr val="E2E8F0"/>
                </a:solidFill>
                <a:latin typeface="Outfit"/>
              </a:rPr>
              <a:t>Enterprise audit export ready for mandatory SEBI BRSR and CPCB EPR submissions.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04 · THE SOLUTION PIPELINE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One sentence becomes a controlled material record.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AI structures plain language. Deterministic rules qualify the 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91640" cy="2468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4D399"/>
                </a:solidFill>
                <a:latin typeface="Outfit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utfit"/>
              </a:rPr>
              <a:t>Natural Language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Factory manager types free-text description of scrap.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645920"/>
            <a:ext cx="1691640" cy="2468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8BDF8"/>
                </a:solidFill>
                <a:latin typeface="Outfit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utfit"/>
              </a:rPr>
              <a:t>Gemini 2.0 Flash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Extracts technical parameters into strict JSON schema at temp=0.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45920"/>
            <a:ext cx="1691640" cy="2468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4D399"/>
                </a:solidFill>
                <a:latin typeface="Outfit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utfit"/>
              </a:rPr>
              <a:t>Human Review Gate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Manager confirms/edits draft fields before lot publishing.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1645920"/>
            <a:ext cx="1691640" cy="2468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BBF24"/>
                </a:solidFill>
                <a:latin typeface="Outfit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utfit"/>
              </a:rPr>
              <a:t>100-Pt Deterministic Engine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Hard eligibility gates filter; 5 dimensions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645920"/>
            <a:ext cx="1691640" cy="2468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8BDF8"/>
                </a:solidFill>
                <a:latin typeface="Outfit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utfit"/>
              </a:rPr>
              <a:t>Explainable Match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Sub-score breakdown, Leaflet route, and net economic swing.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1691640" cy="2468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4D399"/>
                </a:solidFill>
                <a:latin typeface="Outfit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utfit"/>
              </a:rPr>
              <a:t>Passport &amp; Settlement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ISO 59040 lot passport issued; statutory EPR trail logged.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2212848" cy="173736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🔒 Strict Temp = 0.0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Zero hallucination drift across critical material specs &amp; grades.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39" y="4343400"/>
            <a:ext cx="2212848" cy="173736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🛡️ Hard Eligibility Gates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Automated pre-screening filters out bad batches prior to scoring.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4343400"/>
            <a:ext cx="2212848" cy="173736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⚡ Rule-Based Fallback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Deterministic offline engine operates seamlessly if external AI fails.</a:t>
            </a:r>
          </a:p>
        </p:txBody>
      </p:sp>
      <p:pic>
        <p:nvPicPr>
          <p:cNvPr id="14" name="Picture 13" descr="slide2_list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343400"/>
            <a:ext cx="3547872" cy="2217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05 · LIVE PRODUCT DEMO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Every recommendation carries its evidence and route.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Built, deployed &amp; live at circularmatch.vercel.app · Zero mockups, 100% working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pic>
        <p:nvPicPr>
          <p:cNvPr id="5" name="Picture 4" descr="slide3_sell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040880" cy="4400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645920"/>
            <a:ext cx="3504895" cy="443484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Outfit"/>
              </a:rPr>
              <a:t>LIVE NCR MATCHMAKING AUDIT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4D399"/>
                </a:solidFill>
                <a:latin typeface="Outfit"/>
              </a:rPr>
              <a:t>→ 94/100 Top Match: ReLoop Polymers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Buyer: ReLoop Polymers (Manesar). Status: 'Needs Sample' badge. High confidence industrial PET match.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Outfit"/>
              </a:rPr>
              <a:t>→ Formula Breakdown Validated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Exact PET match (+35) · Grade A 0.4% moisture (+20) · 2,600 kg batch in 2–5K kg range (+20) · Noida→Manesar 48km route (+10).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BBF24"/>
                </a:solidFill>
                <a:latin typeface="Outfit"/>
              </a:rPr>
              <a:t>→ Delivered Unit Economics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Gross: ₹36,400 | Freight: ₹6,240 | Net Profit: ₹30,160/wk. Replaces a ₹20,800/wk disposal cost.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4D399"/>
                </a:solidFill>
                <a:latin typeface="Outfit"/>
              </a:rPr>
              <a:t>→ Total Economic Swing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₹50,960/week (+₹26.5 Lakhs annually) and 3,900 kg CO₂e avoided per week for a single factory pair.</a:t>
            </a:r>
          </a:p>
          <a:p>
            <a:r>
              <a:rPr sz="950" b="0">
                <a:solidFill>
                  <a:srgbClr val="94A3B8"/>
                </a:solidFill>
                <a:latin typeface="Outfit"/>
              </a:rPr>
              <a:t>Live Access: </a:t>
            </a:r>
            <a:r>
              <a:rPr sz="950" b="1">
                <a:solidFill>
                  <a:srgbClr val="38BDF8"/>
                </a:solidFill>
                <a:latin typeface="Outfit"/>
              </a:rPr>
              <a:t>circularmatch.vercel.app/dashboard?demo=seller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06 · CORE INNOVATION &amp; EXPLAINABILITY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AI structures the material. Deterministic rules qualify the match.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Explainable decisions with mathematical audit trails — not black-box scoring.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0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Outfit"/>
              </a:rPr>
              <a:t>PROPRIETARY 100-POINT FORMULA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1. Material Compatibility — </a:t>
            </a:r>
            <a:r>
              <a:rPr sz="1100" b="1">
                <a:solidFill>
                  <a:srgbClr val="34D399"/>
                </a:solidFill>
                <a:latin typeface="Outfit"/>
              </a:rPr>
              <a:t>35 pts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Polymer grade, chemical composition, melt flow index matching buyer technical specs.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2. Quality &amp; Contamination — </a:t>
            </a:r>
            <a:r>
              <a:rPr sz="1100" b="1">
                <a:solidFill>
                  <a:srgbClr val="34D399"/>
                </a:solidFill>
                <a:latin typeface="Outfit"/>
              </a:rPr>
              <a:t>20 pts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Moisture percentage (&lt;0.5%), foreign matter, storage condition, and degradation.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3. Quantity Alignment — </a:t>
            </a:r>
            <a:r>
              <a:rPr sz="1100" b="1">
                <a:solidFill>
                  <a:srgbClr val="34D399"/>
                </a:solidFill>
                <a:latin typeface="Outfit"/>
              </a:rPr>
              <a:t>20 pts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Batch volume vs buyer batch processing capacity and delivery frequency.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4. Location &amp; Logistics — </a:t>
            </a:r>
            <a:r>
              <a:rPr sz="1100" b="1">
                <a:solidFill>
                  <a:srgbClr val="34D399"/>
                </a:solidFill>
                <a:latin typeface="Outfit"/>
              </a:rPr>
              <a:t>15 pts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Road freight distance, transport corridor access, haulage feasibility &amp; rate.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Outfit"/>
              </a:rPr>
              <a:t>5. Evidence &amp; Passport — </a:t>
            </a:r>
            <a:r>
              <a:rPr sz="1100" b="1">
                <a:solidFill>
                  <a:srgbClr val="34D399"/>
                </a:solidFill>
                <a:latin typeface="Outfit"/>
              </a:rPr>
              <a:t>10 pts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ISO 59040 passport completeness, lab test certificates, and chain-of-custody.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────────────────────────────</a:t>
            </a:r>
          </a:p>
          <a:p>
            <a:r>
              <a:rPr sz="950" b="1">
                <a:solidFill>
                  <a:srgbClr val="38BDF8"/>
                </a:solidFill>
                <a:latin typeface="Outfit"/>
              </a:rPr>
              <a:t>Deterministic Python Execution: </a:t>
            </a:r>
            <a:r>
              <a:rPr sz="900" b="0">
                <a:solidFill>
                  <a:srgbClr val="E2E8F0"/>
                </a:solidFill>
                <a:latin typeface="Outfit"/>
              </a:rPr>
              <a:t>Unit-tested across 7 test suites. Zero random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6156655" cy="2286000"/>
          </a:xfrm>
          <a:prstGeom prst="roundRect">
            <a:avLst/>
          </a:prstGeom>
          <a:solidFill>
            <a:srgbClr val="0E15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34D399"/>
                </a:solidFill>
                <a:latin typeface="Outfit"/>
              </a:rPr>
              <a:t>AUDITED MATCH CARD: RELOOP POLYMERS (SCORE: 94 / 100)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Industrial PET Flake: </a:t>
            </a:r>
            <a:r>
              <a:rPr sz="1000" b="1">
                <a:solidFill>
                  <a:srgbClr val="38BDF8"/>
                </a:solidFill>
                <a:latin typeface="Outfit"/>
              </a:rPr>
              <a:t>Exact Material Match (+35 pts)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Industrial Grade, 0.4% Moisture: </a:t>
            </a:r>
            <a:r>
              <a:rPr sz="1000" b="1">
                <a:solidFill>
                  <a:srgbClr val="38BDF8"/>
                </a:solidFill>
                <a:latin typeface="Outfit"/>
              </a:rPr>
              <a:t>Within Buyer Limit (+20 pts)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2,600 kg/wk (Buyer Range 2–5K): </a:t>
            </a:r>
            <a:r>
              <a:rPr sz="1000" b="1">
                <a:solidFill>
                  <a:srgbClr val="38BDF8"/>
                </a:solidFill>
                <a:latin typeface="Outfit"/>
              </a:rPr>
              <a:t>In Range (+20 pts)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Noida to Manesar, 48 km: </a:t>
            </a:r>
            <a:r>
              <a:rPr sz="1000" b="1">
                <a:solidFill>
                  <a:srgbClr val="38BDF8"/>
                </a:solidFill>
                <a:latin typeface="Outfit"/>
              </a:rPr>
              <a:t>Inter-State Corridor (+10 pts)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4/5 Lot Attributes Filed: </a:t>
            </a:r>
            <a:r>
              <a:rPr sz="1000" b="1">
                <a:solidFill>
                  <a:srgbClr val="38BDF8"/>
                </a:solidFill>
                <a:latin typeface="Outfit"/>
              </a:rPr>
              <a:t>Tier 2 Commercial Evidence (+9 pts)</a:t>
            </a:r>
          </a:p>
        </p:txBody>
      </p:sp>
      <p:pic>
        <p:nvPicPr>
          <p:cNvPr id="7" name="Picture 6" descr="slide4_match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069080"/>
            <a:ext cx="6156655" cy="38479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07 · MARKET OPPORTUNITY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A Rs.3,000–10,000 Crore NCR material flow is ready for a trusted qualification layer.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Capturing value across high-density industrial manufacturing corridors.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9319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TAM — NATIONAL MARKET</a:t>
            </a:r>
          </a:p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Outfit"/>
              </a:rPr>
              <a:t>₹1.8–2.2T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Outfit"/>
              </a:rPr>
              <a:t>Secondary material recovery sector annually across India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62M tonnes solid waste/year (CPCB)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40%+ industrial pre-consumer scrap</a:t>
            </a:r>
          </a:p>
          <a:p>
            <a:r>
              <a:rPr sz="1000" b="1">
                <a:solidFill>
                  <a:srgbClr val="38BDF8"/>
                </a:solidFill>
                <a:latin typeface="Outfit"/>
              </a:rPr>
              <a:t>● Mandatory 25% recycled content by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45920"/>
            <a:ext cx="3429000" cy="39319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SAM — DELHI NCR CORRIDOR</a:t>
            </a:r>
          </a:p>
          <a:p>
            <a:pPr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Outfit"/>
              </a:rPr>
              <a:t>₹3,000–10K Cr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Outfit"/>
              </a:rPr>
              <a:t>Addressable secondary industrial material flow in NCR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● 9 Concentrated Industrial Hubs: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Noida, Greater Noida, Ghaziabad, Faridabad, Gurugram, Manesar, Sonipat, Bhiwadi, Panipat</a:t>
            </a:r>
          </a:p>
          <a:p>
            <a:r>
              <a:rPr sz="950" b="0">
                <a:solidFill>
                  <a:srgbClr val="38BDF8"/>
                </a:solidFill>
                <a:latin typeface="Outfit"/>
              </a:rPr>
              <a:t>● 5 Focus Material Streams: PET, Cotton, Cardboard, Steel, HDPE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645920"/>
            <a:ext cx="3429000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SOM — PHASE 1 PILOT TARGET</a:t>
            </a:r>
          </a:p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Outfit"/>
              </a:rPr>
              <a:t>₹35–50 Cr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Outfit"/>
              </a:rPr>
              <a:t>Recovered enterprise value across 100 matched facilities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100 Matched industrial facilities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25,000 tonnes diverted annually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Outfit"/>
              </a:rPr>
              <a:t>● ~40,000 tonnes CO₂e avoided</a:t>
            </a:r>
          </a:p>
          <a:p>
            <a:r>
              <a:rPr sz="1000" b="1">
                <a:solidFill>
                  <a:srgbClr val="34D399"/>
                </a:solidFill>
                <a:latin typeface="Outfit"/>
              </a:rPr>
              <a:t>● 1.0–1.5% platform facilitation fee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4D399"/>
                </a:solidFill>
                <a:latin typeface="Outfit"/>
              </a:rPr>
              <a:t>Bottom-Up Pilot Math: </a:t>
            </a:r>
            <a:r>
              <a:rPr sz="950" b="0">
                <a:solidFill>
                  <a:srgbClr val="E2E8F0"/>
                </a:solidFill>
                <a:latin typeface="Outfit"/>
              </a:rPr>
              <a:t>100 generators × avg. ₹30,000/week economic swing × 50 weeks = ₹15 Crore pilot trade volume → at 1.5% platform fee = ₹22.5 Lakh revenue in Phase 1 alone. Illustrative scenario — not a certified forecast.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08 · BUSINESS MODEL &amp; MONETIZATION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Compliance SaaS makes the marketplace hard to bypass.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Revenue follows trust and compliance — not fragile transaction commission.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BBF24"/>
                </a:solidFill>
                <a:latin typeface="Outfit"/>
              </a:rPr>
              <a:t>PILLAR 1: TRANSACTION LAYER</a:t>
            </a:r>
          </a:p>
          <a:p>
            <a:pPr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Outfit"/>
              </a:rPr>
              <a:t>1.0–1.5%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94A3B8"/>
                </a:solidFill>
                <a:latin typeface="Outfit"/>
              </a:rPr>
              <a:t>Facilitation Fee on Settled Volume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Charged per completed, verified material transaction between generator and buyer.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Invoiced only upon verified gate acceptance and weighbridge receipt.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Automated escrow and billing integration.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Zero upfront fees for scrap listing to maximize SME liquidity.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2900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4D399"/>
                </a:solidFill>
                <a:latin typeface="Outfit"/>
              </a:rPr>
              <a:t>PILLAR 2: COMPLIANCE LAYER</a:t>
            </a:r>
          </a:p>
          <a:p>
            <a:pPr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Outfit"/>
              </a:rPr>
              <a:t>₹15K–50K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94A3B8"/>
                </a:solidFill>
                <a:latin typeface="Outfit"/>
              </a:rPr>
              <a:t>Monthly Enterprise Compliance SaaS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Digital Material Passports and statutory audit documentation.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ISO 59040 Digital Material Passports per lot.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Automated SEBI BRSR Core sustainability disclosure exports.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CPCB EPR credit tracking and statutory audit trail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2900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Outfit"/>
              </a:rPr>
              <a:t>PILLAR 3: INTELLIGENCE LAYER</a:t>
            </a:r>
          </a:p>
          <a:p>
            <a:pPr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Outfit"/>
              </a:rPr>
              <a:t>Data API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94A3B8"/>
                </a:solidFill>
                <a:latin typeface="Outfit"/>
              </a:rPr>
              <a:t>Regional Material &amp; Logistics Analytics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E2E8F0"/>
                </a:solidFill>
                <a:latin typeface="Outfit"/>
              </a:rPr>
              <a:t>Premium market intelligence for enterprise procurement and recyclers.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Real-time secondary material spot price benchmarks across NCR.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Corridor-level material flow volume and availability forecasts.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2E8F0"/>
                </a:solidFill>
                <a:latin typeface="Outfit"/>
              </a:rPr>
              <a:t>● Logistics &amp; carbon abatement optimization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8BDF8"/>
                </a:solidFill>
                <a:latin typeface="Outfit"/>
              </a:rPr>
              <a:t>The Defensibility Moat: </a:t>
            </a:r>
            <a:r>
              <a:rPr sz="950" b="0">
                <a:solidFill>
                  <a:srgbClr val="FFFFFF"/>
                </a:solidFill>
                <a:latin typeface="Outfit"/>
              </a:rPr>
              <a:t>If parties trade off-platform to save the 1% fee, they lose the certified ISO 59040 passport and statutory chain-of-custody required by SEBI and CPCB. Compliance locks in the marketplace.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09 · QUANTIFIED IMPACT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One matched pair: Rs.26.5 Lakhs recovered. 202 tonnes CO₂e avoided annually.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At 100 facilities: Rs.35–50 Crore recovered and 40,000 tonnes CO₂e eliminated.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1207008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BBF24"/>
                </a:solidFill>
                <a:latin typeface="Outfit"/>
              </a:rPr>
              <a:t>₹50,960 / wk</a:t>
            </a:r>
            <a:r>
              <a:rPr sz="1100" b="1">
                <a:solidFill>
                  <a:srgbClr val="FFFFFF"/>
                </a:solidFill>
                <a:latin typeface="Outfit"/>
              </a:rPr>
              <a:t>   |   Net Economic Swing (Single Plant)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Turns ₹20,800/wk disposal liability into ₹30,160/wk net secondary sales profit = ₹26.5 Lakhs/year cash turnaround.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6858000" cy="1207008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4D399"/>
                </a:solidFill>
                <a:latin typeface="Outfit"/>
              </a:rPr>
              <a:t>3,900 kg CO₂e / wk</a:t>
            </a:r>
            <a:r>
              <a:rPr sz="1100" b="1">
                <a:solidFill>
                  <a:srgbClr val="FFFFFF"/>
                </a:solidFill>
                <a:latin typeface="Outfit"/>
              </a:rPr>
              <a:t>   |   Net Carbon Abatement (ISO 59020:2024)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Virgin PET displacement net of road freight emissions = 202 Tonnes CO₂e avoided annually per plant.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6858000" cy="1207008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38BDF8"/>
                </a:solidFill>
                <a:latin typeface="Outfit"/>
              </a:rPr>
              <a:t>25,000 Tonnes / yr</a:t>
            </a:r>
            <a:r>
              <a:rPr sz="1100" b="1">
                <a:solidFill>
                  <a:srgbClr val="FFFFFF"/>
                </a:solidFill>
                <a:latin typeface="Outfit"/>
              </a:rPr>
              <a:t>   |   Phase 1 Industrial Corridor Target (100 Facilities)</a:t>
            </a:r>
          </a:p>
          <a:p>
            <a:r>
              <a:rPr sz="950" b="0">
                <a:solidFill>
                  <a:srgbClr val="E2E8F0"/>
                </a:solidFill>
                <a:latin typeface="Outfit"/>
              </a:rPr>
              <a:t>₹35–50 Crore recovered value and ~40,000 tonnes CO₂e eliminated across Delhi NCR industrial manufacturing clusters.</a:t>
            </a:r>
          </a:p>
        </p:txBody>
      </p:sp>
      <p:pic>
        <p:nvPicPr>
          <p:cNvPr id="8" name="Picture 7" descr="slide5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687775" cy="23048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4D399"/>
                </a:solidFill>
                <a:latin typeface="Outfit"/>
              </a:rPr>
              <a:t>Methodology Governance: </a:t>
            </a:r>
            <a:r>
              <a:rPr sz="950" b="0">
                <a:solidFill>
                  <a:srgbClr val="E2E8F0"/>
                </a:solidFill>
                <a:latin typeface="Outfit"/>
              </a:rPr>
              <a:t>Delhi NCR PET scenario. Carbon accounting: ISO 59020:2024 and GHG Protocol Scope 3 Category 5 (End-of-life treatment of sold products). Estimates are indicative demo models — not certified third-party LCA.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10 · COMPETITIVE ANALYSIS &amp; MOAT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We do not win on discovery. We win on qualification and compliance.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Classifieds list raw posts. ERPs track internal inventory. CircularMatch guarantees cross-enterprise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  <a:gridCol w="2468880"/>
                <a:gridCol w="2864815"/>
              </a:tblGrid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utfit"/>
                        </a:rPr>
                        <a:t>Capability / Parameter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utfit"/>
                        </a:rPr>
                        <a:t>Generic Classifieds
(IndiaMART / TradeIndia)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utfit"/>
                        </a:rPr>
                        <a:t>Enterprise ERPs
(SAP / Tally Prime)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1000" b="1">
                          <a:solidFill>
                            <a:srgbClr val="34D399"/>
                          </a:solidFill>
                          <a:latin typeface="Outfit"/>
                        </a:rPr>
                        <a:t>CircularMatch
Platform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AI Plain-Text Structuring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None (free-text ads)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Complex manual forms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Gemini 2.0 Flash + Fallback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100-Pt Deterministic Score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Unsorted listings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No external market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100% Auditable Formula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ISO Material Passport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None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BF24"/>
                          </a:solidFill>
                          <a:latin typeface="Outfit"/>
                        </a:rPr>
                        <a:t>⚠️ Internal lot tracking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ISO 59040:2025 Standard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Hard Eligibility Gating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Buyer screens junk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N/A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Automated Pre-screening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Scope 3 Carbon LCA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None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BF24"/>
                          </a:solidFill>
                          <a:latin typeface="Outfit"/>
                        </a:rPr>
                        <a:t>⚠️ Costly custom add-on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Built-in ISO 59020 Math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SME Accessibility &amp; Cost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✅ High reach, low trust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High implementation cost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Zero-friction instant web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  <a:tr h="49149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Statutory Audit Trail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7185"/>
                          </a:solidFill>
                          <a:latin typeface="Outfit"/>
                        </a:rPr>
                        <a:t>❌ Paper receipts fail audit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FBBF24"/>
                          </a:solidFill>
                          <a:latin typeface="Outfit"/>
                        </a:rPr>
                        <a:t>⚠️ Manual internal slips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Outfit"/>
                        </a:rPr>
                        <a:t>✅ SEBI BRSR &amp; EPR Ready</a:t>
                      </a:r>
                    </a:p>
                  </a:txBody>
                  <a:tcPr>
                    <a:solidFill>
                      <a:srgbClr val="0C1C1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8BDF8"/>
                </a:solidFill>
                <a:latin typeface="Outfit"/>
              </a:rPr>
              <a:t>Strategic Moat: </a:t>
            </a:r>
            <a:r>
              <a:rPr sz="950" b="0">
                <a:solidFill>
                  <a:srgbClr val="FFFFFF"/>
                </a:solidFill>
                <a:latin typeface="Outfit"/>
              </a:rPr>
              <a:t>Classifieds have raw traffic scale. ERPs have enterprise inertia. CircularMatch wins on automated qualification, auditability, and instant zero-friction SME onboarding.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11 · SOLO BUILDER &amp; SYSTEM ARCHITECTURE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One engineer. One complete deployed system. Every line — shipped.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Architected, engineered, tested, and deployed end-to-end solo by Shivansh Gupta.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SOLO CREATOR &amp; SYSTEM ARCHITECT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Outfit"/>
              </a:rPr>
              <a:t>Shivansh Gupta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B.Tech Computer Science &amp; Engineering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94A3B8"/>
                </a:solidFill>
                <a:latin typeface="Outfit"/>
              </a:rPr>
              <a:t>G.L. Bajaj Institute of Technology &amp; Management, Greater Noida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● 100% of Codebase Authored Solo: </a:t>
            </a:r>
            <a:r>
              <a:rPr sz="900" b="0">
                <a:solidFill>
                  <a:srgbClr val="E2E8F0"/>
                </a:solidFill>
                <a:latin typeface="Outfit"/>
              </a:rPr>
              <a:t>From FastAPI backend &amp; PostgreSQL schemas to React 18 UI &amp; Gemini AI pipelines.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● 7 Automated Pytest Test Suites: </a:t>
            </a:r>
            <a:r>
              <a:rPr sz="900" b="0">
                <a:solidFill>
                  <a:srgbClr val="E2E8F0"/>
                </a:solidFill>
                <a:latin typeface="Outfit"/>
              </a:rPr>
              <a:t>20 unit tests covering API flows, extraction, and matching with 100% pass rate.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● Full-Stack Production Deployment: </a:t>
            </a:r>
            <a:r>
              <a:rPr sz="900" b="0">
                <a:solidFill>
                  <a:srgbClr val="E2E8F0"/>
                </a:solidFill>
                <a:latin typeface="Outfit"/>
              </a:rPr>
              <a:t>Live Vercel frontend + Render cloud API + Supabase PostgreSQL.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● ISO Standards Integration: </a:t>
            </a:r>
            <a:r>
              <a:rPr sz="900" b="0">
                <a:solidFill>
                  <a:srgbClr val="E2E8F0"/>
                </a:solidFill>
                <a:latin typeface="Outfit"/>
              </a:rPr>
              <a:t>Engineered ISO 59040 Material Passports &amp; ISO 59020 Scope 3 LCA calculators.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6430975" cy="896112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⚡ FastAPI Backend &amp; 100-Pt Engine v2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Deterministic 5-dimension scoring, hard eligibility pre-screening gates, DemoStore repository pattern, and SlowAPI rate limiting.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633472"/>
            <a:ext cx="6430975" cy="896112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⚡ React 18 &amp; Minimax Design System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Vite + TypeScript architecture, dual Seller/Buyer workspaces, Leaflet geospatial routing map, and Recharts analytics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621024"/>
            <a:ext cx="6430975" cy="896112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⚡ Google Gemini 2.0 Flash Extraction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Structured JSON extraction at strict temp=0.0 with offline rule-based fallback ensuring zero downtime hallucination-free parsing.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608576"/>
            <a:ext cx="6430975" cy="896112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⚡ Supabase Cloud &amp; Enterprise Compliance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12 relational tables, Row-Level Security (RLS) policies, multi-tenant RBAC, and statutory SEBI BRSR / CPCB EPR audit trails.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4D399"/>
                </a:solidFill>
                <a:latin typeface="Outfit"/>
              </a:rPr>
              <a:t>Audited Test Coverage: </a:t>
            </a:r>
            <a:r>
              <a:rPr sz="950" b="0">
                <a:solidFill>
                  <a:srgbClr val="E2E8F0"/>
                </a:solidFill>
                <a:latin typeface="Outfit"/>
              </a:rPr>
              <a:t>7 test files · test_api_flow · test_demo_accounts · test_extraction · test_full_suite · test_matching · test_matching_v2 · test_trusted_pilot_core · 100% pass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SLIDE 12 · CALL TO ACTION &amp; VISION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The technical core is built. Help us turn the first 5 audited material flows into the network.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Commercial proof is the next milestone. Experience the live product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Outfit"/>
              </a:rPr>
              <a:t>GET INVOLVED · LIVE ACCESS &amp; REPOSITORY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● PRIMARY: Try the Live Deployed Platform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  → https://circularmatch.vercel.app</a:t>
            </a:r>
          </a:p>
          <a:p>
            <a:pPr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  Experience Seller/Buyer/Admin dashboards, the AI Listing Wizard, and real Delhi NCR match cards.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● SECONDARY: Interactive Swagger API Documentation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  → https://circularmatch-api.onrender.com/docs</a:t>
            </a:r>
          </a:p>
          <a:p>
            <a:pPr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  Explore and execute all 15+ live REST endpoints with full JSON schemas.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● TERTIARY: Complete Source Code Repository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Outfit"/>
              </a:rPr>
              <a:t>  → https://github.com/shivanshguptaa070-del/circularmatch</a:t>
            </a:r>
          </a:p>
          <a:p>
            <a:pPr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Outfit"/>
              </a:rPr>
              <a:t>  Review the full-stack architecture, 100-pt engine, Supabase migrations, and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76495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SCAN TO EXPERIENCE LIVE ON YOUR PHONE</a:t>
            </a:r>
          </a:p>
        </p:txBody>
      </p:sp>
      <p:pic>
        <p:nvPicPr>
          <p:cNvPr id="7" name="Picture 6" descr="qr_code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9456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029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2E8F0"/>
                </a:solidFill>
                <a:latin typeface="Outfit"/>
              </a:rPr>
              <a:t>Direct link to live production application on Vercel 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A1E1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Outfit"/>
              </a:rPr>
              <a:t>CircularMatch  |  Solo Architect: Shivansh Gupta  |  G.L. Bajaj ITM  |  HACKDAY 1.0 (DECODEP) &amp; SustainTech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APPENDIX · SYSTEM ARCHITECTURE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Three-tier cloud architecture designed for zero downtime and instant enterprise migration.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Production-ready decoupling of UI, AI extraction layer, and deterministic matching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120700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Tier 1: Presentation &amp; Routing (Vercel Edge)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React 18 · TypeScript · Vite 8 · Framer Motion · Leaflet Geo Routing · TanStack Query v5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Modular dual-workspace architecture allowing instant switching between Waste Generator, Recycler Buyer, and Admin Cluster views with zero page reloads.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6858000" cy="120700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Tier 2: Application &amp; AI Intelligence (Render Cloud)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FastAPI · Pydantic v2 Schemas · Gemini 2.0 Flash Adapter · 100-Pt Deterministic Engine v2 · SlowAPI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Strict temp=0.0 schema validation. Deterministic 5-dimension matching engine decoupled from generative AI. Built-in ISO 59020 Scope 3 LCA calculators.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6858000" cy="120700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Tier 3: Persistence &amp; Compliance (Supabase Cloud)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PostgreSQL 15 · 12 Relational Tables · Row-Level Security (RLS) · In-Memory DemoStore Fallback</a:t>
            </a:r>
          </a:p>
          <a:p>
            <a:r>
              <a:rPr sz="900" b="0">
                <a:solidFill>
                  <a:srgbClr val="E2E8F0"/>
                </a:solidFill>
                <a:latin typeface="Outfit"/>
              </a:rPr>
              <a:t>Multi-tenant RBAC schemas, immutable lot audit trails, and automatic offline repository fallback guaranteeing 100% demo reliability without DB latency.</a:t>
            </a:r>
          </a:p>
        </p:txBody>
      </p:sp>
      <p:pic>
        <p:nvPicPr>
          <p:cNvPr id="8" name="Picture 7" descr="slide3_dual_worksp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687775" cy="27402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4D399"/>
                </a:solidFill>
                <a:latin typeface="Outfit"/>
              </a:rPr>
              <a:t>Enterprise Migration: </a:t>
            </a:r>
            <a:r>
              <a:rPr sz="950" b="0">
                <a:solidFill>
                  <a:srgbClr val="E2E8F0"/>
                </a:solidFill>
                <a:latin typeface="Outfit"/>
              </a:rPr>
              <a:t>In-Memory DemoStore repository pattern swaps to live cloud PostgreSQL via a single DATABASE_URL environment variable. Zero business logic modification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APPENDIX · LCA CARBON ACCOUNTING METHODOLOGY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Empirical carbon abatement methodology governed by international standards.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Transparent accounting under ISO 59020:2024 &amp; GHG Protocol Scope 3 Category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Outfit"/>
              </a:rPr>
              <a:t>GOVERNING LCA FORMULA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8BDF8"/>
                </a:solidFill>
                <a:latin typeface="Outfit"/>
              </a:rPr>
              <a:t>Avoided CO₂e = (Q × R × D × F_virgin) + (Q × F_disposal) - E_transport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Outfit"/>
              </a:rPr>
              <a:t>Q = </a:t>
            </a:r>
            <a:r>
              <a:rPr sz="950" b="0">
                <a:solidFill>
                  <a:srgbClr val="E2E8F0"/>
                </a:solidFill>
                <a:latin typeface="Outfit"/>
              </a:rPr>
              <a:t>Waste lot quantity in kilograms (e.g. 2,600 kg PET)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Outfit"/>
              </a:rPr>
              <a:t>R = </a:t>
            </a:r>
            <a:r>
              <a:rPr sz="950" b="0">
                <a:solidFill>
                  <a:srgbClr val="E2E8F0"/>
                </a:solidFill>
                <a:latin typeface="Outfit"/>
              </a:rPr>
              <a:t>Material recovery efficiency rate (e.g. 85% for PET)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Outfit"/>
              </a:rPr>
              <a:t>D = </a:t>
            </a:r>
            <a:r>
              <a:rPr sz="950" b="0">
                <a:solidFill>
                  <a:srgbClr val="E2E8F0"/>
                </a:solidFill>
                <a:latin typeface="Outfit"/>
              </a:rPr>
              <a:t>Virgin material displacement ratio (e.g. 85%)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Outfit"/>
              </a:rPr>
              <a:t>F_virgin = </a:t>
            </a:r>
            <a:r>
              <a:rPr sz="950" b="0">
                <a:solidFill>
                  <a:srgbClr val="E2E8F0"/>
                </a:solidFill>
                <a:latin typeface="Outfit"/>
              </a:rPr>
              <a:t>Virgin material carbon factor (1.80 kg CO₂e/kg)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Outfit"/>
              </a:rPr>
              <a:t>F_disposal = </a:t>
            </a:r>
            <a:r>
              <a:rPr sz="950" b="0">
                <a:solidFill>
                  <a:srgbClr val="E2E8F0"/>
                </a:solidFill>
                <a:latin typeface="Outfit"/>
              </a:rPr>
              <a:t>Avoided landfill/disposal factor (0.05 kg CO₂e/kg)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Outfit"/>
              </a:rPr>
              <a:t>E_transport = </a:t>
            </a:r>
            <a:r>
              <a:rPr sz="950" b="0">
                <a:solidFill>
                  <a:srgbClr val="E2E8F0"/>
                </a:solidFill>
                <a:latin typeface="Outfit"/>
              </a:rPr>
              <a:t>Road freight transit emissions across 48 km corridor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0" y="1645920"/>
          <a:ext cx="6156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655"/>
                <a:gridCol w="1143000"/>
                <a:gridCol w="1143000"/>
                <a:gridCol w="1143000"/>
                <a:gridCol w="1143000"/>
              </a:tblGrid>
              <a:tr h="655320">
                <a:tc>
                  <a:txBody>
                    <a:bodyPr wrap="square" lIns="54864" tIns="54864" rIns="54864" bIns="54864"/>
                    <a:lstStyle/>
                    <a:p>
                      <a:r>
                        <a:rPr sz="900" b="1">
                          <a:solidFill>
                            <a:srgbClr val="34D399"/>
                          </a:solidFill>
                          <a:latin typeface="Outfit"/>
                        </a:rPr>
                        <a:t>Material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00" b="1">
                          <a:solidFill>
                            <a:srgbClr val="34D399"/>
                          </a:solidFill>
                          <a:latin typeface="Outfit"/>
                        </a:rPr>
                        <a:t>Virgin Factor
(kg CO₂e/kg)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00" b="1">
                          <a:solidFill>
                            <a:srgbClr val="34D399"/>
                          </a:solidFill>
                          <a:latin typeface="Outfit"/>
                        </a:rPr>
                        <a:t>Recovery
Rate (%)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00" b="1">
                          <a:solidFill>
                            <a:srgbClr val="34D399"/>
                          </a:solidFill>
                          <a:latin typeface="Outfit"/>
                        </a:rPr>
                        <a:t>Displacement
Ratio (%)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00" b="1">
                          <a:solidFill>
                            <a:srgbClr val="34D399"/>
                          </a:solidFill>
                          <a:latin typeface="Outfit"/>
                        </a:rPr>
                        <a:t>Disposal Factor
(kg CO₂e/kg)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65532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PET Plastic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1.80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85%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85%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0.05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65532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Cotton Textiles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1.30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72%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70%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0.12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65532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Corrugated Box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0.95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82%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75%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0.25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65532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Mild Steel Scrap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1.65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92%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90%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0.02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655320"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utfit"/>
                        </a:rPr>
                        <a:t>HDPE Industrial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1.70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80%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80%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 wrap="square" lIns="54864" tIns="54864" rIns="54864" bIns="54864"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Outfit"/>
                        </a:rPr>
                        <a:t>0.05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FBBF24"/>
                </a:solidFill>
                <a:latin typeface="Outfit"/>
              </a:rPr>
              <a:t>Standard Governance: </a:t>
            </a:r>
            <a:r>
              <a:rPr sz="950" b="0">
                <a:solidFill>
                  <a:srgbClr val="E2E8F0"/>
                </a:solidFill>
                <a:latin typeface="Outfit"/>
              </a:rPr>
              <a:t>Calculations adhere to ISO 59020:2024 (Circular economy — Measuring circularity performance) and GHG Protocol Scope 3 Category 5. Illustrative demo scenarios — not certified third-party LCA.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4D399"/>
                </a:solidFill>
                <a:latin typeface="Outfit"/>
              </a:rPr>
              <a:t>●  APPENDIX · PRODUCT ROADMAP &amp; HORIZONS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Outfit"/>
              </a:rPr>
              <a:t>From hackathon-winning MVP to India's certified secondary material registry.</a:t>
            </a:r>
          </a:p>
          <a:p>
            <a:r>
              <a:rPr sz="1200" b="0">
                <a:solidFill>
                  <a:srgbClr val="38BDF8"/>
                </a:solidFill>
                <a:latin typeface="Outfit"/>
              </a:rPr>
              <a:t>Structured 3-phase execution horizon spanning product, pilot, and national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34D399"/>
                </a:solidFill>
                <a:latin typeface="Outfit"/>
              </a:rPr>
              <a:t>♻ CircularMatch  </a:t>
            </a:r>
            <a:r>
              <a:rPr sz="900" b="0">
                <a:solidFill>
                  <a:srgbClr val="94A3B8"/>
                </a:solidFill>
                <a:latin typeface="Outfit"/>
              </a:rPr>
              <a:t>|  HACKDAY 1.0 (DECODEP)  |  Solo Architect: Shivansh Gupta  |  circularmatch.vercel.app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Outfit"/>
              </a:rPr>
              <a:t>PHASE 1: MVP COMPLETE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Outfit"/>
              </a:rPr>
              <a:t>LIVE NOW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✅ FastAPI + React 18 Architecture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Full-stack decoupled architecture deployed on Vercel &amp; Render.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✅ Gemini 2.0 Flash Extraction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Schema-validated natural language parser with rule-based offline fallback.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✅ 100-Pt Deterministic Engine v2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5-dimension scoring with pre-screening eligibility gates.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✅ ISO 59040 Material Passports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Digital lot passports with 4-tier verification hierarchy.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✅ 7 Pytest Automated Suites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20 unit tests with 100% pass rate covering all core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2900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Outfit"/>
              </a:rPr>
              <a:t>PHASE 2: REGIONAL PILOT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Outfit"/>
              </a:rPr>
              <a:t>MONTHS 1–6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Supabase Auth + SMS OTP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Frictionless mobile login for factory floor supervisors.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25 Onboarded NCR Generators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Pilot corridor focused in Greater Noida, Ghaziabad &amp; Manesar.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Google Maps Distance Matrix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Dynamic real-time road haulage freight quote integration.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Lab Certificate PDF Storage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S3/Supabase encrypted storage for Tier 4 certified lab reports.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E-Way Bill &amp; GST Invoicing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Automated compliance billing generation upon lot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29000" cy="393192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Outfit"/>
              </a:rPr>
              <a:t>PHASE 3: NATIONAL SCALE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Outfit"/>
              </a:rPr>
              <a:t>MONTHS 6–18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Statutory CPCB EPR Integration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Direct integration with National CPCB EPR plastic credits portal.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Multi-Corridor Expansion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Expanding to Ahmedabad–Vadodara, Pune–Pimpri &amp; Chennai belts.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ERP Enterprise Plugins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Automated scrap sync plugins for Tally Prime and SAP Business One.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Progressive Web App (PWA)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Mobile app with offline QR lot scanning and electronic gate passes.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Outfit"/>
              </a:rPr>
              <a:t>⏳ Secondary Material Futures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E2E8F0"/>
                </a:solidFill>
                <a:latin typeface="Outfit"/>
              </a:rPr>
              <a:t>Pricing hedging and forward contracts for high-volume recyclers.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0E15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/>
            <a:r>
              <a:rPr sz="1000" b="1">
                <a:solidFill>
                  <a:srgbClr val="34D399"/>
                </a:solidFill>
                <a:latin typeface="Outfit"/>
              </a:rPr>
              <a:t>Commercial Vision: </a:t>
            </a:r>
            <a:r>
              <a:rPr sz="950" b="0">
                <a:solidFill>
                  <a:srgbClr val="FFFFFF"/>
                </a:solidFill>
                <a:latin typeface="Outfit"/>
              </a:rPr>
              <a:t>CircularMatch transitions from an AI hackathon MVP into the indispensable statutory trust and compliance rail for India's ₹2 Trillion secondary material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