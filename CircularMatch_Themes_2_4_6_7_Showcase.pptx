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02:  SWISS INTERNATIONAL  •  SLIDE 1/4: COVER &amp; CORE HOOK</a:t>
            </a:r>
            <a:r>
              <a:rPr b="0" sz="850">
                <a:solidFill>
                  <a:srgbClr val="475569"/>
                </a:solidFill>
              </a:rPr>
              <a:t>    |    FONTS: Arial Black + Arial    |    PALETTE: White (#FFFFFF) • Black (#000000) • Vermilion (#FF3B00)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30352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Arial Black"/>
              </a:defRPr>
            </a:pPr>
            <a:r>
              <a:t>CIRCULARMATCH / 2026</a:t>
            </a:r>
          </a:p>
          <a:p>
            <a:pPr>
              <a:spcBef>
                <a:spcPts val="200"/>
              </a:spcBef>
              <a:defRPr b="1" sz="1000">
                <a:solidFill>
                  <a:srgbClr val="000000"/>
                </a:solidFill>
                <a:latin typeface="Arial Black"/>
              </a:defRPr>
            </a:pPr>
            <a:r>
              <a:t>INDUSTRIAL MATERIAL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800">
                <a:solidFill>
                  <a:srgbClr val="000000"/>
                </a:solidFill>
                <a:latin typeface="Arial Black"/>
              </a:defRPr>
            </a:pPr>
            <a:r>
              <a:t>Turn industrial waste</a:t>
            </a:r>
            <a:br/>
            <a:r>
              <a:t>into qualified,</a:t>
            </a:r>
            <a:br/>
            <a:r>
              <a:t>compliant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464646"/>
                </a:solidFill>
                <a:latin typeface="Arial"/>
              </a:defRPr>
            </a:pPr>
            <a:r>
              <a:t>The qualification and trust layer connecting factory by-products with verified secondary-material buyers.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66360"/>
            <a:ext cx="2377440" cy="868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>
              <a:defRPr b="1" sz="900">
                <a:solidFill>
                  <a:srgbClr val="FF3B00"/>
                </a:solidFill>
                <a:latin typeface="Arial Black"/>
              </a:defRPr>
            </a:pPr>
            <a:r>
              <a:t>ALGORITHM</a:t>
            </a:r>
          </a:p>
          <a:p>
            <a:pPr algn="l">
              <a:defRPr b="1" sz="1300">
                <a:solidFill>
                  <a:srgbClr val="FFFFFF"/>
                </a:solidFill>
                <a:latin typeface="Arial Black"/>
              </a:defRPr>
            </a:pPr>
            <a:r>
              <a:t>100-Point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5166360"/>
            <a:ext cx="2377440" cy="86868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>
              <a:defRPr b="1" sz="900">
                <a:solidFill>
                  <a:srgbClr val="000000"/>
                </a:solidFill>
                <a:latin typeface="Arial Black"/>
              </a:defRPr>
            </a:pPr>
            <a:r>
              <a:t>STATUS</a:t>
            </a:r>
          </a:p>
          <a:p>
            <a:pPr algn="l">
              <a:defRPr b="1" sz="1300">
                <a:solidFill>
                  <a:srgbClr val="000000"/>
                </a:solidFill>
                <a:latin typeface="Arial Black"/>
              </a:defRPr>
            </a:pPr>
            <a:r>
              <a:t>Live Pilot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42255" cy="429768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_browser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059375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02:  SWISS INTERNATIONAL  •  SLIDE 2/4: PROBLEM &amp; FRICTION</a:t>
            </a:r>
            <a:r>
              <a:rPr b="0" sz="850">
                <a:solidFill>
                  <a:srgbClr val="475569"/>
                </a:solidFill>
              </a:rPr>
              <a:t>    |    FONTS: Arial Black + Arial    |    PALETTE: White (#FFFFFF) • Black (#000000) • Vermilion (#FF3B00)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Arial Black"/>
              </a:defRPr>
            </a:pPr>
            <a:r>
              <a:t>THE REJECTION CRISIS AT THE GATE</a:t>
            </a:r>
          </a:p>
          <a:p>
            <a:pPr>
              <a:spcBef>
                <a:spcPts val="300"/>
              </a:spcBef>
              <a:defRPr b="1" sz="3000">
                <a:solidFill>
                  <a:srgbClr val="000000"/>
                </a:solidFill>
                <a:latin typeface="Arial Black"/>
              </a:defRPr>
            </a:pPr>
            <a:r>
              <a:t>Discovery is solved. Qualification is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4114800" cy="37490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l">
              <a:defRPr b="1" sz="1100">
                <a:solidFill>
                  <a:srgbClr val="FF3B00"/>
                </a:solidFill>
                <a:latin typeface="Arial Black"/>
              </a:defRPr>
            </a:pPr>
            <a:r>
              <a:t>GATE REJECTION RATE</a:t>
            </a:r>
          </a:p>
          <a:p>
            <a:pPr algn="l">
              <a:spcBef>
                <a:spcPts val="800"/>
              </a:spcBef>
              <a:defRPr b="1" sz="6400">
                <a:solidFill>
                  <a:srgbClr val="FFFFFF"/>
                </a:solidFill>
                <a:latin typeface="Arial Black"/>
              </a:defRPr>
            </a:pPr>
            <a:r>
              <a:t>30–60%</a:t>
            </a:r>
          </a:p>
          <a:p>
            <a:pPr algn="l">
              <a:spcBef>
                <a:spcPts val="1200"/>
              </a:spcBef>
              <a:defRPr sz="1150">
                <a:solidFill>
                  <a:srgbClr val="C8C8C8"/>
                </a:solidFill>
                <a:latin typeface="Arial"/>
              </a:defRPr>
            </a:pPr>
            <a:r>
              <a:t>of new-supplier secondary material is rejected upon arrival at the buyer's factory gate due to unspecified contamination, moisture, or polymer grade mismatch.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2240280"/>
            <a:ext cx="6339535" cy="11430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200">
                <a:solidFill>
                  <a:srgbClr val="000000"/>
                </a:solidFill>
                <a:latin typeface="Arial Black"/>
              </a:defRPr>
            </a:pPr>
            <a:r>
              <a:t>01 / GENERIC SPECIFICATIONS</a:t>
            </a:r>
          </a:p>
          <a:p>
            <a:pPr algn="l">
              <a:spcBef>
                <a:spcPts val="400"/>
              </a:spcBef>
              <a:defRPr sz="1050">
                <a:solidFill>
                  <a:srgbClr val="464646"/>
                </a:solidFill>
                <a:latin typeface="Arial"/>
              </a:defRPr>
            </a:pPr>
            <a:r>
              <a:t>Informal WhatsApp text omit polymer grade, melt flow index, and moisture test metrics.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3502152"/>
            <a:ext cx="6339535" cy="11430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200">
                <a:solidFill>
                  <a:srgbClr val="000000"/>
                </a:solidFill>
                <a:latin typeface="Arial Black"/>
              </a:defRPr>
            </a:pPr>
            <a:r>
              <a:t>02 / FREIGHT BEFORE PROOF</a:t>
            </a:r>
          </a:p>
          <a:p>
            <a:pPr algn="l">
              <a:spcBef>
                <a:spcPts val="400"/>
              </a:spcBef>
              <a:defRPr sz="1050">
                <a:solidFill>
                  <a:srgbClr val="464646"/>
                </a:solidFill>
                <a:latin typeface="Arial"/>
              </a:defRPr>
            </a:pPr>
            <a:r>
              <a:t>Trucks dispatch before acceptance criteria are locked, generating catastrophic dead haulage.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4764024"/>
            <a:ext cx="6339535" cy="114300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200">
                <a:solidFill>
                  <a:srgbClr val="000000"/>
                </a:solidFill>
                <a:latin typeface="Arial Black"/>
              </a:defRPr>
            </a:pPr>
            <a:r>
              <a:t>03 / COMPLIANCE LIABILITIES</a:t>
            </a:r>
          </a:p>
          <a:p>
            <a:pPr algn="l">
              <a:spcBef>
                <a:spcPts val="400"/>
              </a:spcBef>
              <a:defRPr sz="1050">
                <a:solidFill>
                  <a:srgbClr val="464646"/>
                </a:solidFill>
                <a:latin typeface="Arial"/>
              </a:defRPr>
            </a:pPr>
            <a:r>
              <a:t>Informal cash broker receipts fail statutory SEBI BRSR and CPCB EPR chain-of-custody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02:  SWISS INTERNATIONAL  •  SLIDE 3/4: LIVE INGESTION DEMO</a:t>
            </a:r>
            <a:r>
              <a:rPr b="0" sz="850">
                <a:solidFill>
                  <a:srgbClr val="475569"/>
                </a:solidFill>
              </a:rPr>
              <a:t>    |    FONTS: Arial Black + Arial    |    PALETTE: White (#FFFFFF) • Black (#000000) • Vermilion (#FF3B00)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Arial Black"/>
              </a:defRPr>
            </a:pPr>
            <a:r>
              <a:t>04 / LIVE DEMO — STEP 1: INGESTION</a:t>
            </a:r>
          </a:p>
          <a:p>
            <a:pPr>
              <a:spcBef>
                <a:spcPts val="300"/>
              </a:spcBef>
              <a:defRPr b="1" sz="2600">
                <a:solidFill>
                  <a:srgbClr val="000000"/>
                </a:solidFill>
                <a:latin typeface="Arial Black"/>
              </a:defRPr>
            </a:pPr>
            <a:r>
              <a:t>One natural sentence becomes a controlled material record.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6217920" cy="3977639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2_list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6035040" cy="3771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78040" y="2148840"/>
            <a:ext cx="4282135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200">
                <a:solidFill>
                  <a:srgbClr val="FF3B00"/>
                </a:solidFill>
                <a:latin typeface="Arial Black"/>
              </a:defRPr>
            </a:pPr>
            <a:r>
              <a:t>01  ·  DESCRIBE NATURALLY</a:t>
            </a:r>
          </a:p>
          <a:p>
            <a:pPr algn="l">
              <a:spcBef>
                <a:spcPts val="3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"Around 3 tonnes of clean PET manufacturing scrap every week in Noida." Plain text, voice, or WhatsApp format.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3429000"/>
            <a:ext cx="4282135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200">
                <a:solidFill>
                  <a:srgbClr val="FF3B00"/>
                </a:solidFill>
                <a:latin typeface="Arial Black"/>
              </a:defRPr>
            </a:pPr>
            <a:r>
              <a:t>02  ·  EXTRACT SCHEMAS</a:t>
            </a:r>
          </a:p>
          <a:p>
            <a:pPr algn="l">
              <a:spcBef>
                <a:spcPts val="3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Gemini structures material, quantity, cadence, location, and standard catalog candidates into typed JSON.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4709160"/>
            <a:ext cx="4282135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200">
                <a:solidFill>
                  <a:srgbClr val="FF3B00"/>
                </a:solidFill>
                <a:latin typeface="Arial Black"/>
              </a:defRPr>
            </a:pPr>
            <a:r>
              <a:t>03  ·  OPERATOR CONTROL</a:t>
            </a:r>
          </a:p>
          <a:p>
            <a:pPr algn="l">
              <a:spcBef>
                <a:spcPts val="3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Supplier-described claims stay unverified until physical lab evidence or test certificates exist.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02:  SWISS INTERNATIONAL  •  SLIDE 4/4: TECHNICAL ARCHITECTURE</a:t>
            </a:r>
            <a:r>
              <a:rPr b="0" sz="850">
                <a:solidFill>
                  <a:srgbClr val="475569"/>
                </a:solidFill>
              </a:rPr>
              <a:t>    |    FONTS: Arial Black + Arial    |    PALETTE: White (#FFFFFF) • Black (#000000) • Vermilion (#FF3B00)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FF3B00"/>
                </a:solidFill>
                <a:latin typeface="Arial Black"/>
              </a:defRPr>
            </a:pPr>
            <a:r>
              <a:t>08 / TECHNICAL ENGINE</a:t>
            </a:r>
          </a:p>
          <a:p>
            <a:pPr>
              <a:spcBef>
                <a:spcPts val="300"/>
              </a:spcBef>
              <a:defRPr b="1" sz="2600">
                <a:solidFill>
                  <a:srgbClr val="000000"/>
                </a:solidFill>
                <a:latin typeface="Arial Black"/>
              </a:defRPr>
            </a:pPr>
            <a:r>
              <a:t>Explainable decisions — not black-box matching.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965960" cy="256032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defRPr b="1" sz="1400">
                <a:solidFill>
                  <a:srgbClr val="FF3B00"/>
                </a:solidFill>
                <a:latin typeface="Arial Black"/>
              </a:defRPr>
            </a:pPr>
            <a:r>
              <a:t>01</a:t>
            </a:r>
          </a:p>
          <a:p>
            <a:pPr algn="l">
              <a:spcBef>
                <a:spcPts val="600"/>
              </a:spcBef>
              <a:defRPr b="1" sz="1300">
                <a:solidFill>
                  <a:srgbClr val="000000"/>
                </a:solidFill>
                <a:latin typeface="Arial Black"/>
              </a:defRPr>
            </a:pPr>
            <a:r>
              <a:t>INGESTION</a:t>
            </a:r>
          </a:p>
          <a:p>
            <a:pPr algn="l">
              <a:spcBef>
                <a:spcPts val="8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Raw plant text, photos, lab specs, location.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1508" y="2240280"/>
            <a:ext cx="1965960" cy="256032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defRPr b="1" sz="1400">
                <a:solidFill>
                  <a:srgbClr val="FF3B00"/>
                </a:solidFill>
                <a:latin typeface="Arial Black"/>
              </a:defRPr>
            </a:pPr>
            <a:r>
              <a:t>02</a:t>
            </a:r>
          </a:p>
          <a:p>
            <a:pPr algn="l">
              <a:spcBef>
                <a:spcPts val="600"/>
              </a:spcBef>
              <a:defRPr b="1" sz="1300">
                <a:solidFill>
                  <a:srgbClr val="000000"/>
                </a:solidFill>
                <a:latin typeface="Arial Black"/>
              </a:defRPr>
            </a:pPr>
            <a:r>
              <a:t>PARSING</a:t>
            </a:r>
          </a:p>
          <a:p>
            <a:pPr algn="l">
              <a:spcBef>
                <a:spcPts val="8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Gemini 2.0 Flash at temp=0 with catalog grounding.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11496" y="2240280"/>
            <a:ext cx="1965960" cy="256032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defRPr b="1" sz="1400">
                <a:solidFill>
                  <a:srgbClr val="FF3B00"/>
                </a:solidFill>
                <a:latin typeface="Arial Black"/>
              </a:defRPr>
            </a:pPr>
            <a:r>
              <a:t>03</a:t>
            </a:r>
          </a:p>
          <a:p>
            <a:pPr algn="l">
              <a:spcBef>
                <a:spcPts val="600"/>
              </a:spcBef>
              <a:defRPr b="1" sz="1300">
                <a:solidFill>
                  <a:srgbClr val="000000"/>
                </a:solidFill>
                <a:latin typeface="Arial Black"/>
              </a:defRPr>
            </a:pPr>
            <a:r>
              <a:t>GATING</a:t>
            </a:r>
          </a:p>
          <a:p>
            <a:pPr algn="l">
              <a:spcBef>
                <a:spcPts val="8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Hard eligibility filters: contaminants, radius, purity.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01484" y="2240280"/>
            <a:ext cx="1965960" cy="256032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defRPr b="1" sz="1400">
                <a:solidFill>
                  <a:srgbClr val="FF3B00"/>
                </a:solidFill>
                <a:latin typeface="Arial Black"/>
              </a:defRPr>
            </a:pPr>
            <a:r>
              <a:t>04</a:t>
            </a:r>
          </a:p>
          <a:p>
            <a:pPr algn="l">
              <a:spcBef>
                <a:spcPts val="600"/>
              </a:spcBef>
              <a:defRPr b="1" sz="1300">
                <a:solidFill>
                  <a:srgbClr val="000000"/>
                </a:solidFill>
                <a:latin typeface="Arial Black"/>
              </a:defRPr>
            </a:pPr>
            <a:r>
              <a:t>RANKING</a:t>
            </a:r>
          </a:p>
          <a:p>
            <a:pPr algn="l">
              <a:spcBef>
                <a:spcPts val="8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100-point formula: Spec(35), Qual(20), Qty(20), Dist(15).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91472" y="2240280"/>
            <a:ext cx="1965960" cy="2560320"/>
          </a:xfrm>
          <a:prstGeom prst="rect">
            <a:avLst/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l">
              <a:defRPr b="1" sz="1400">
                <a:solidFill>
                  <a:srgbClr val="FF3B00"/>
                </a:solidFill>
                <a:latin typeface="Arial Black"/>
              </a:defRPr>
            </a:pPr>
            <a:r>
              <a:t>05</a:t>
            </a:r>
          </a:p>
          <a:p>
            <a:pPr algn="l">
              <a:spcBef>
                <a:spcPts val="600"/>
              </a:spcBef>
              <a:defRPr b="1" sz="1300">
                <a:solidFill>
                  <a:srgbClr val="000000"/>
                </a:solidFill>
                <a:latin typeface="Arial Black"/>
              </a:defRPr>
            </a:pPr>
            <a:r>
              <a:t>ACTION</a:t>
            </a:r>
          </a:p>
          <a:p>
            <a:pPr algn="l">
              <a:spcBef>
                <a:spcPts val="800"/>
              </a:spcBef>
              <a:defRPr sz="1000">
                <a:solidFill>
                  <a:srgbClr val="464646"/>
                </a:solidFill>
                <a:latin typeface="Arial"/>
              </a:defRPr>
            </a:pPr>
            <a:r>
              <a:t>Ranked matches, sample request, BRSR audit receipt.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83480"/>
            <a:ext cx="10728655" cy="10972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100">
                <a:solidFill>
                  <a:srgbClr val="FF3B00"/>
                </a:solidFill>
                <a:latin typeface="Arial Black"/>
              </a:defRPr>
            </a:pPr>
            <a:r>
              <a:t>CORE SYSTEM FOUNDATION</a:t>
            </a:r>
          </a:p>
          <a:p>
            <a:pPr algn="l"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React 18 + TS • FastAPI + Pydantic • Supabase PostgreSQL (pgvector + RLS) • Leaflet • 7 Automated Test Suites (100% Green)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18181E"/>
          </a:solidFill>
          <a:ln w="12700">
            <a:solidFill>
              <a:srgbClr val="3C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  <a:latin typeface="Segoe UI"/>
              </a:defRPr>
            </a:pPr>
            <a:r>
              <a:t>THEME 04:  EDITORIAL SERIF &amp; LUXURY  •  SLIDE 1/4: COVER &amp; THESIS</a:t>
            </a:r>
            <a:r>
              <a:rPr b="0" sz="850">
                <a:solidFill>
                  <a:srgbClr val="9CA3AF"/>
                </a:solidFill>
              </a:rPr>
              <a:t>    |    FONTS: Georgia + Calibri    |    PALETTE: Parchment (#F9F6F0) • Oxford Green (#14241C) • Gold (#B8860B)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Georgia"/>
              </a:defRPr>
            </a:pPr>
            <a:r>
              <a:t>CIRCULARMATCH</a:t>
            </a:r>
          </a:p>
          <a:p>
            <a:pPr>
              <a:spcBef>
                <a:spcPts val="200"/>
              </a:spcBef>
              <a:defRPr b="1" sz="950">
                <a:solidFill>
                  <a:srgbClr val="B8860B"/>
                </a:solidFill>
                <a:latin typeface="Georgia"/>
              </a:defRPr>
            </a:pPr>
            <a:r>
              <a:t>INSTITUTIONAL SECONDARY MATERIAL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Georgia"/>
              </a:defRPr>
            </a:pPr>
            <a:r>
              <a:t>Transforming industrial discard into certified secondary raw material.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ECDC3"/>
                </a:solidFill>
                <a:latin typeface="Calibri"/>
              </a:defRPr>
            </a:pPr>
            <a:r>
              <a:t>The verifiable qualification and digital passport layer connecting factory discard streams with audited industrial recyclers.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66360"/>
            <a:ext cx="2468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>
              <a:defRPr b="1" sz="850">
                <a:solidFill>
                  <a:srgbClr val="B8860B"/>
                </a:solidFill>
                <a:latin typeface="Georgia"/>
              </a:defRPr>
            </a:pPr>
            <a:r>
              <a:t>STANDARDS ALIGNED</a:t>
            </a:r>
          </a:p>
          <a:p>
            <a:pPr algn="l">
              <a:defRPr b="1" sz="1250">
                <a:solidFill>
                  <a:srgbClr val="14241C"/>
                </a:solidFill>
                <a:latin typeface="Georgia"/>
              </a:defRPr>
            </a:pPr>
            <a:r>
              <a:t>ISO 59040 Passports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5166360"/>
            <a:ext cx="2468880" cy="8686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>
              <a:defRPr b="1" sz="850">
                <a:solidFill>
                  <a:srgbClr val="3C2800"/>
                </a:solidFill>
                <a:latin typeface="Georgia"/>
              </a:defRPr>
            </a:pPr>
            <a:r>
              <a:t>READINESS</a:t>
            </a:r>
          </a:p>
          <a:p>
            <a:pPr algn="l">
              <a:defRPr b="1" sz="1250">
                <a:solidFill>
                  <a:srgbClr val="141414"/>
                </a:solidFill>
                <a:latin typeface="Georgia"/>
              </a:defRPr>
            </a:pPr>
            <a:r>
              <a:t>NCR Trusted 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42255" cy="4297680"/>
          </a:xfrm>
          <a:prstGeom prst="rect">
            <a:avLst/>
          </a:prstGeom>
          <a:solidFill>
            <a:srgbClr val="0F1C16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_browser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059375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04:  EDITORIAL SERIF &amp; LUXURY  •  SLIDE 2/4: MARKET ECONOMICS &amp; TAM</a:t>
            </a:r>
            <a:r>
              <a:rPr b="0" sz="850">
                <a:solidFill>
                  <a:srgbClr val="475569"/>
                </a:solidFill>
              </a:rPr>
              <a:t>    |    FONTS: Georgia + Calibri    |    PALETTE: Parchment (#F9F6F0) • Oxford Green (#14241C) • Gold (#B8860B)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B8860B"/>
                </a:solidFill>
                <a:latin typeface="Georgia"/>
              </a:defRPr>
            </a:pPr>
            <a:r>
              <a:t>MARKET OPPORTUNITY &amp; REGULATORY CATALYSTS</a:t>
            </a:r>
          </a:p>
          <a:p>
            <a:pPr>
              <a:spcBef>
                <a:spcPts val="300"/>
              </a:spcBef>
              <a:defRPr b="1" sz="2600">
                <a:solidFill>
                  <a:srgbClr val="14241C"/>
                </a:solidFill>
                <a:latin typeface="Georgia"/>
              </a:defRPr>
            </a:pPr>
            <a:r>
              <a:t>A ₹3,000–10,000 Cr NCR material flow is ready for a trusted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51206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l">
              <a:defRPr b="1" sz="950">
                <a:solidFill>
                  <a:srgbClr val="B8860B"/>
                </a:solidFill>
                <a:latin typeface="Georgia"/>
              </a:defRPr>
            </a:pPr>
            <a:r>
              <a:t>SERVICEABLE ADDRESSABLE MARKET (DELHI-NCR)</a:t>
            </a:r>
          </a:p>
          <a:p>
            <a:pPr algn="l">
              <a:spcBef>
                <a:spcPts val="600"/>
              </a:spcBef>
              <a:defRPr b="1" sz="3600">
                <a:solidFill>
                  <a:srgbClr val="14241C"/>
                </a:solidFill>
                <a:latin typeface="Georgia"/>
              </a:defRPr>
            </a:pPr>
            <a:r>
              <a:t>₹3,000 – 10,000 Cr</a:t>
            </a:r>
          </a:p>
          <a:p>
            <a:pPr algn="l">
              <a:spcBef>
                <a:spcPts val="400"/>
              </a:spcBef>
              <a:defRPr sz="1100">
                <a:solidFill>
                  <a:srgbClr val="505A55"/>
                </a:solidFill>
                <a:latin typeface="Calibri"/>
              </a:defRPr>
            </a:pPr>
            <a:r>
              <a:t>Non-hazardous manufacturing discard across ~2,500 facilities (PET flakes, cotton spinning waste, cardboard, steel scrap).</a:t>
            </a:r>
          </a:p>
          <a:p>
            <a:pPr algn="l">
              <a:spcBef>
                <a:spcPts val="1200"/>
              </a:spcBef>
              <a:defRPr sz="1100">
                <a:solidFill>
                  <a:srgbClr val="14241C"/>
                </a:solidFill>
                <a:latin typeface="Georgia"/>
              </a:defRPr>
            </a:pPr>
            <a:r>
              <a:t>• TAM: ₹80,000–1,20,000 Cr (India Total Industrial Discard)</a:t>
            </a:r>
            <a:br/>
            <a:r>
              <a:t>• SAM: ₹3,000–10,000 Cr (NCR Industrial Hubs)</a:t>
            </a:r>
            <a:br/>
            <a:r>
              <a:t>• SOM: ₹1.0–7.5 Cr / month (Pilot Phase Anchor Facilities)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2240280"/>
            <a:ext cx="5333695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200">
                <a:solidFill>
                  <a:srgbClr val="14241C"/>
                </a:solidFill>
                <a:latin typeface="Georgia"/>
              </a:defRPr>
            </a:pPr>
            <a:r>
              <a:t>1,000+ LISTED CORPORATES  —  SEBI BRSR Core Mandate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By FY26-27, listed entities face direct statutory audit liabilities for unverified supply-chain waste disposal.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520440"/>
            <a:ext cx="5333695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200">
                <a:solidFill>
                  <a:srgbClr val="14241C"/>
                </a:solidFill>
                <a:latin typeface="Georgia"/>
              </a:defRPr>
            </a:pPr>
            <a:r>
              <a:t>30% TO 60% MANDATORY  —  Statutory EPR Escalation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Statutory minimum recycled content quotas in rigid packaging surge under MoEFCC guidelines.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4800600"/>
            <a:ext cx="5333695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200">
                <a:solidFill>
                  <a:srgbClr val="14241C"/>
                </a:solidFill>
                <a:latin typeface="Georgia"/>
              </a:defRPr>
            </a:pPr>
            <a:r>
              <a:t>18 FEBRUARY 2027  —  EU Digital Product Passport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Indian textile and polymer manufacturing exporters require machine-readable passports to clear EU customs.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04:  EDITORIAL SERIF &amp; LUXURY  •  SLIDE 3/4: PRODUCT PASSPORT DEMO</a:t>
            </a:r>
            <a:r>
              <a:rPr b="0" sz="850">
                <a:solidFill>
                  <a:srgbClr val="475569"/>
                </a:solidFill>
              </a:rPr>
              <a:t>    |    FONTS: Georgia + Calibri    |    PALETTE: Parchment (#F9F6F0) • Oxford Green (#14241C) • Gold (#B8860B)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B8860B"/>
                </a:solidFill>
                <a:latin typeface="Georgia"/>
              </a:defRPr>
            </a:pPr>
            <a:r>
              <a:t>THE QUALIFICATION STANDARD</a:t>
            </a:r>
          </a:p>
          <a:p>
            <a:pPr>
              <a:spcBef>
                <a:spcPts val="300"/>
              </a:spcBef>
              <a:defRPr b="1" sz="2600">
                <a:solidFill>
                  <a:srgbClr val="14241C"/>
                </a:solidFill>
                <a:latin typeface="Georgia"/>
              </a:defRPr>
            </a:pPr>
            <a:r>
              <a:t>Digital Material Passport (ISO 59040 Aligned)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621792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2_pas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6035040" cy="37719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78040" y="2148840"/>
            <a:ext cx="42821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150">
                <a:solidFill>
                  <a:srgbClr val="14241C"/>
                </a:solidFill>
                <a:latin typeface="Georgia"/>
              </a:defRPr>
            </a:pPr>
            <a:r>
              <a:t>I. VERIFIABLE PROVENANCE</a:t>
            </a:r>
          </a:p>
          <a:p>
            <a:pPr algn="l">
              <a:spcBef>
                <a:spcPts val="3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Every discard lot carries precise manufacturing GPS coordinates, facility license numbers, and batch 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3429000"/>
            <a:ext cx="42821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150">
                <a:solidFill>
                  <a:srgbClr val="14241C"/>
                </a:solidFill>
                <a:latin typeface="Georgia"/>
              </a:defRPr>
            </a:pPr>
            <a:r>
              <a:t>II. AVOIDED CARBON AUDIT</a:t>
            </a:r>
          </a:p>
          <a:p>
            <a:pPr algn="l">
              <a:spcBef>
                <a:spcPts val="3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Standardized Scope 3 lifecycle carbon reduction metrics computed directly for statutory ESG disclosures.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4709160"/>
            <a:ext cx="42821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150">
                <a:solidFill>
                  <a:srgbClr val="14241C"/>
                </a:solidFill>
                <a:latin typeface="Georgia"/>
              </a:defRPr>
            </a:pPr>
            <a:r>
              <a:t>III. CHAIN-OF-CUSTODY RECEIPTS</a:t>
            </a:r>
          </a:p>
          <a:p>
            <a:pPr algn="l">
              <a:spcBef>
                <a:spcPts val="3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Digital bill-of-lading and weighbridge verification records eliminate paper fraud and ensure tax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04:  EDITORIAL SERIF &amp; LUXURY  •  SLIDE 4/4: BUSINESS MODEL &amp; MOAT</a:t>
            </a:r>
            <a:r>
              <a:rPr b="0" sz="850">
                <a:solidFill>
                  <a:srgbClr val="475569"/>
                </a:solidFill>
              </a:rPr>
              <a:t>    |    FONTS: Georgia + Calibri    |    PALETTE: Parchment (#F9F6F0) • Oxford Green (#14241C) • Gold (#B8860B)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B8860B"/>
                </a:solidFill>
                <a:latin typeface="Georgia"/>
              </a:defRPr>
            </a:pPr>
            <a:r>
              <a:t>COMMERCIAL ARCHITECTURE &amp; REVENUE MODEL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Compliance SaaS creates an impenetrable customer retention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34564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TIER I</a:t>
            </a:r>
          </a:p>
          <a:p>
            <a:pPr algn="l">
              <a:spcBef>
                <a:spcPts val="400"/>
              </a:spcBef>
              <a:defRPr b="1" sz="1400">
                <a:solidFill>
                  <a:srgbClr val="14241C"/>
                </a:solidFill>
                <a:latin typeface="Georgia"/>
              </a:defRPr>
            </a:pPr>
            <a:r>
              <a:t>Listing &amp; Catalog Discovery</a:t>
            </a:r>
          </a:p>
          <a:p>
            <a:pPr algn="l">
              <a:spcBef>
                <a:spcPts val="600"/>
              </a:spcBef>
              <a:defRPr b="1" sz="2000">
                <a:solidFill>
                  <a:srgbClr val="14241C"/>
                </a:solidFill>
                <a:latin typeface="Georgia"/>
              </a:defRPr>
            </a:pPr>
            <a:r>
              <a:t>₹0</a:t>
            </a:r>
          </a:p>
          <a:p>
            <a:pPr algn="l">
              <a:spcBef>
                <a:spcPts val="8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Zero-friction supplier onboarding.</a:t>
            </a:r>
            <a:br/>
            <a:r>
              <a:t>Free catalog search and match browsing.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0832" y="2240280"/>
            <a:ext cx="345643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TIER II</a:t>
            </a:r>
          </a:p>
          <a:p>
            <a:pPr algn="l">
              <a:spcBef>
                <a:spcPts val="400"/>
              </a:spcBef>
              <a:defRPr b="1" sz="1400">
                <a:solidFill>
                  <a:srgbClr val="14241C"/>
                </a:solidFill>
                <a:latin typeface="Georgia"/>
              </a:defRPr>
            </a:pPr>
            <a:r>
              <a:t>Compliance SaaS Core</a:t>
            </a:r>
          </a:p>
          <a:p>
            <a:pPr algn="l">
              <a:spcBef>
                <a:spcPts val="600"/>
              </a:spcBef>
              <a:defRPr b="1" sz="2000">
                <a:solidFill>
                  <a:srgbClr val="14241C"/>
                </a:solidFill>
                <a:latin typeface="Georgia"/>
              </a:defRPr>
            </a:pPr>
            <a:r>
              <a:t>₹5K – 25K / mo</a:t>
            </a:r>
          </a:p>
          <a:p>
            <a:pPr algn="l">
              <a:spcBef>
                <a:spcPts val="8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Digital Material Passports, verifiable evidence states, chain-of-custody export.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10144" y="2240280"/>
            <a:ext cx="345643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TIER III</a:t>
            </a:r>
          </a:p>
          <a:p>
            <a:pPr algn="l">
              <a:spcBef>
                <a:spcPts val="400"/>
              </a:spcBef>
              <a:defRPr b="1" sz="1400">
                <a:solidFill>
                  <a:srgbClr val="14241C"/>
                </a:solidFill>
                <a:latin typeface="Georgia"/>
              </a:defRPr>
            </a:pPr>
            <a:r>
              <a:t>Facilitation &amp; Volume Escrow</a:t>
            </a:r>
          </a:p>
          <a:p>
            <a:pPr algn="l">
              <a:spcBef>
                <a:spcPts val="600"/>
              </a:spcBef>
              <a:defRPr b="1" sz="2000">
                <a:solidFill>
                  <a:srgbClr val="14241C"/>
                </a:solidFill>
                <a:latin typeface="Georgia"/>
              </a:defRPr>
            </a:pPr>
            <a:r>
              <a:t>₹500–5K + 1.5%</a:t>
            </a:r>
          </a:p>
          <a:p>
            <a:pPr algn="l">
              <a:spcBef>
                <a:spcPts val="8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Third-party laboratory testing, sample escrow, and verified transport protection.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983480"/>
            <a:ext cx="10728655" cy="1097280"/>
          </a:xfrm>
          <a:prstGeom prst="rect">
            <a:avLst/>
          </a:prstGeom>
          <a:solidFill>
            <a:srgbClr val="14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THE COMPOUNDING RETENTION MOAT</a:t>
            </a:r>
          </a:p>
          <a:p>
            <a:pPr algn="l"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Industrial clients do not leave the platform after discovery because their historical compliance logs, certified lot passports, and regulatory evidence compound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06:  CLEAN ENTERPRISE CORPORATE  •  SLIDE 1/4: PLATFORM OVERVIEW</a:t>
            </a:r>
            <a:r>
              <a:rPr b="0" sz="850">
                <a:solidFill>
                  <a:srgbClr val="475569"/>
                </a:solidFill>
              </a:rPr>
              <a:t>    |    FONTS: Calibri / Arial    |    PALETTE: Slate (#F1F5F9) • Cobalt (#1D4ED8) • Emerald (#10B981)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1D4ED8"/>
                </a:solidFill>
                <a:latin typeface="Calibri"/>
              </a:defRPr>
            </a:pPr>
            <a:r>
              <a:t>ENTERPRISE MATERIAL MANAGEMENT SUITE</a:t>
            </a:r>
          </a:p>
          <a:p>
            <a:pPr>
              <a:spcBef>
                <a:spcPts val="300"/>
              </a:spcBef>
              <a:defRPr b="1" sz="2800">
                <a:solidFill>
                  <a:srgbClr val="0F172A"/>
                </a:solidFill>
                <a:latin typeface="Calibri"/>
              </a:defRPr>
            </a:pPr>
            <a:r>
              <a:t>Turn industrial waste into qualified, compliant value.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The enterprise intelligence layer connecting manufacturing scrap generators with certified secondary-material buyers.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120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b="1" sz="1100">
                <a:solidFill>
                  <a:srgbClr val="1D4ED8"/>
                </a:solidFill>
                <a:latin typeface="Calibri"/>
              </a:defRPr>
            </a:pPr>
            <a:r>
              <a:t>AUTOMATED QUALIFICATION</a:t>
            </a:r>
          </a:p>
          <a:p>
            <a:pPr algn="l"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Deterministic 100-point algorithm eliminates buyer gate rejection liabilities.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20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b="1" sz="1100">
                <a:solidFill>
                  <a:srgbClr val="1D4ED8"/>
                </a:solidFill>
                <a:latin typeface="Calibri"/>
              </a:defRPr>
            </a:pPr>
            <a:r>
              <a:t>AUDIT-READY PASSPORTS</a:t>
            </a:r>
          </a:p>
          <a:p>
            <a:pPr algn="l"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Machine-readable compliance records built for statutory SEBI BRSR and EPR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51206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b="1" sz="1100">
                <a:solidFill>
                  <a:srgbClr val="1D4ED8"/>
                </a:solidFill>
                <a:latin typeface="Calibri"/>
              </a:defRPr>
            </a:pPr>
            <a:r>
              <a:t>MANAGED TRANSACTION TRAIL</a:t>
            </a:r>
          </a:p>
          <a:p>
            <a:pPr algn="l"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End-to-end sample requests, digital offers, and verified weighbridge receipts.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o_browser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059375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06:  CLEAN ENTERPRISE CORPORATE  •  SLIDE 2/4: SOLUTION ARCHITECTURE</a:t>
            </a:r>
            <a:r>
              <a:rPr b="0" sz="850">
                <a:solidFill>
                  <a:srgbClr val="475569"/>
                </a:solidFill>
              </a:rPr>
              <a:t>    |    FONTS: Calibri / Arial    |    PALETTE: Slate (#F1F5F9) • Cobalt (#1D4ED8) • Emerald (#10B981)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1D4ED8"/>
                </a:solidFill>
                <a:latin typeface="Calibri"/>
              </a:defRPr>
            </a:pPr>
            <a:r>
              <a:t>SOLUTION ARCHITECTURE</a:t>
            </a:r>
          </a:p>
          <a:p>
            <a:pPr>
              <a:spcBef>
                <a:spcPts val="300"/>
              </a:spcBef>
              <a:defRPr b="1" sz="2500">
                <a:solidFill>
                  <a:srgbClr val="0F172A"/>
                </a:solidFill>
                <a:latin typeface="Calibri"/>
              </a:defRPr>
            </a:pPr>
            <a:r>
              <a:t>AI structures the material. Deterministic rules qualify the match.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4754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150">
                <a:solidFill>
                  <a:srgbClr val="1D4ED8"/>
                </a:solidFill>
                <a:latin typeface="Calibri"/>
              </a:defRPr>
            </a:pPr>
            <a:r>
              <a:t>[AI]  Natural-Language Scrap Ingestion</a:t>
            </a:r>
          </a:p>
          <a:p>
            <a:pPr algn="l"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Raw voice, text, or WhatsApp descriptions converted into structured JSON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4754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150">
                <a:solidFill>
                  <a:srgbClr val="1D4ED8"/>
                </a:solidFill>
                <a:latin typeface="Calibri"/>
              </a:defRPr>
            </a:pPr>
            <a:r>
              <a:t>[GATE]  Hard Eligibility Safeguards</a:t>
            </a:r>
          </a:p>
          <a:p>
            <a:pPr algn="l"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Category mismatch, toxic contaminants, and transit radius pre-screened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4754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150">
                <a:solidFill>
                  <a:srgbClr val="1D4ED8"/>
                </a:solidFill>
                <a:latin typeface="Calibri"/>
              </a:defRPr>
            </a:pPr>
            <a:r>
              <a:t>[100]  Transparent Matching Engine</a:t>
            </a:r>
          </a:p>
          <a:p>
            <a:pPr algn="l"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Spec (35) • Quality (20) • Volume (20) • Logistics (15) • Evidence Completeness (10).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4754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150">
                <a:solidFill>
                  <a:srgbClr val="1D4ED8"/>
                </a:solidFill>
                <a:latin typeface="Calibri"/>
              </a:defRPr>
            </a:pPr>
            <a:r>
              <a:t>[EPR]  Digital Material Passports</a:t>
            </a:r>
          </a:p>
          <a:p>
            <a:pPr algn="l"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ISO 59040-aligned verification carrying into sample requests and statutory CPCB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240280"/>
            <a:ext cx="574243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2_list_w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31720"/>
            <a:ext cx="5559552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06:  CLEAN ENTERPRISE CORPORATE  •  SLIDE 3/4: COMPETITIVE MATRIX</a:t>
            </a:r>
            <a:r>
              <a:rPr b="0" sz="850">
                <a:solidFill>
                  <a:srgbClr val="475569"/>
                </a:solidFill>
              </a:rPr>
              <a:t>    |    FONTS: Calibri / Arial    |    PALETTE: Slate (#F1F5F9) • Cobalt (#1D4ED8) • Emerald (#10B981)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1D4ED8"/>
                </a:solidFill>
                <a:latin typeface="Calibri"/>
              </a:defRPr>
            </a:pPr>
            <a:r>
              <a:t>COMPETITIVE CAPABILITY COMPARISON</a:t>
            </a:r>
          </a:p>
          <a:p>
            <a:pPr>
              <a:spcBef>
                <a:spcPts val="300"/>
              </a:spcBef>
              <a:defRPr b="1" sz="2500">
                <a:solidFill>
                  <a:srgbClr val="0F172A"/>
                </a:solidFill>
                <a:latin typeface="Calibri"/>
              </a:defRPr>
            </a:pPr>
            <a:r>
              <a:t>We do not win on discovery volume — we win on qualification &amp; compliance.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4028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41855"/>
              </a:tblGrid>
              <a:tr h="512064">
                <a:tc>
                  <a:txBody>
                    <a:bodyPr anchor="ctr"/>
                    <a:lstStyle/>
                    <a:p>
                      <a:pPr algn="l"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RECYKAL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INDIAMART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SCRAP BROKERS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b="1" sz="10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CIRCULARMATCH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Industrial Spec Qualification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None (Ad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Manual / 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Automated Core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Explainable Match Logic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Not Disclosed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Informal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100-Point Formula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Lot-Level Evidence Passport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ISO 59040 Aligned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512064">
                <a:tc>
                  <a:txBody>
                    <a:bodyPr anchor="ctr"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Statutory BRSR &amp; EPR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Zero / Cash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000" b="1">
                          <a:solidFill>
                            <a:srgbClr val="166534"/>
                          </a:solidFill>
                          <a:latin typeface="Calibri"/>
                        </a:defRPr>
                      </a:pPr>
                      <a:r>
                        <a:t>Core Enterprise Wedge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8348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l">
              <a:defRPr b="1" sz="950">
                <a:solidFill>
                  <a:srgbClr val="1D4ED8"/>
                </a:solidFill>
                <a:latin typeface="Calibri"/>
              </a:defRPr>
            </a:pPr>
            <a:r>
              <a:t>CLIENT VALUE PROPOSITION</a:t>
            </a:r>
          </a:p>
          <a:p>
            <a:pPr algn="l">
              <a:spcBef>
                <a:spcPts val="2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Transform unverified informal factory ad listings into buyer-acceptable, auditable secondary material lots.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983480"/>
            <a:ext cx="52422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l">
              <a:defRPr b="1" sz="950">
                <a:solidFill>
                  <a:srgbClr val="10B981"/>
                </a:solidFill>
                <a:latin typeface="Calibri"/>
              </a:defRPr>
            </a:pPr>
            <a:r>
              <a:t>ENTERPRISE MOAT</a:t>
            </a:r>
          </a:p>
          <a:p>
            <a:pPr algn="l">
              <a:spcBef>
                <a:spcPts val="2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Deep compliance integrations, ISO passports, and statutory audit histories create insurmountable switching costs.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06:  CLEAN ENTERPRISE CORPORATE  •  SLIDE 4/4: EXECUTION READINESS</a:t>
            </a:r>
            <a:r>
              <a:rPr b="0" sz="850">
                <a:solidFill>
                  <a:srgbClr val="475569"/>
                </a:solidFill>
              </a:rPr>
              <a:t>    |    FONTS: Calibri / Arial    |    PALETTE: Slate (#F1F5F9) • Cobalt (#1D4ED8) • Emerald (#10B981)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1D4ED8"/>
                </a:solidFill>
                <a:latin typeface="Calibri"/>
              </a:defRPr>
            </a:pPr>
            <a:r>
              <a:t>TECHNICAL READINESS &amp; PLATFORM STACK</a:t>
            </a:r>
          </a:p>
          <a:p>
            <a:pPr>
              <a:spcBef>
                <a:spcPts val="300"/>
              </a:spcBef>
              <a:defRPr b="1" sz="2500">
                <a:solidFill>
                  <a:srgbClr val="0F172A"/>
                </a:solidFill>
                <a:latin typeface="Calibri"/>
              </a:defRPr>
            </a:pPr>
            <a:r>
              <a:t>The technical core is built. Commercial proof is the active milestone.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84048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l">
              <a:defRPr b="1" sz="1300">
                <a:solidFill>
                  <a:srgbClr val="10B981"/>
                </a:solidFill>
                <a:latin typeface="Calibri"/>
              </a:defRPr>
            </a:pPr>
            <a:r>
              <a:t>CIRCULARMATCH</a:t>
            </a:r>
          </a:p>
          <a:p>
            <a:pPr algn="l">
              <a:spcBef>
                <a:spcPts val="600"/>
              </a:spcBef>
              <a:defRPr b="1" sz="2600">
                <a:solidFill>
                  <a:srgbClr val="FFFFFF"/>
                </a:solidFill>
                <a:latin typeface="Calibri"/>
              </a:defRPr>
            </a:pPr>
            <a:r>
              <a:t>SYSTEM CORE</a:t>
            </a:r>
          </a:p>
          <a:p>
            <a:pPr algn="l">
              <a:spcBef>
                <a:spcPts val="8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Modular full-stack platform built for industrial qualification, automated material passports, and statutory enterprise audit trails.</a:t>
            </a:r>
          </a:p>
          <a:p>
            <a:pPr algn="l">
              <a:spcBef>
                <a:spcPts val="1400"/>
              </a:spcBef>
              <a:defRPr b="1" sz="1000">
                <a:solidFill>
                  <a:srgbClr val="10B981"/>
                </a:solidFill>
                <a:latin typeface="Calibri"/>
              </a:defRPr>
            </a:pPr>
            <a:r>
              <a:t>CURRENT PRODUCTION STATUS:</a:t>
            </a:r>
          </a:p>
          <a:p>
            <a:pPr algn="l"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Fully functional trusted-pilot platform deployed on circularmatch.vercel.app with complete end-to-end interactive demo flows.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240280"/>
            <a:ext cx="66568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1D4ED8"/>
                </a:solidFill>
                <a:latin typeface="Calibri"/>
              </a:defRPr>
            </a:pPr>
            <a:r>
              <a:t>[DEV]  Product Engineering</a:t>
            </a:r>
          </a:p>
          <a:p>
            <a:pPr algn="l"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React 18, TypeScript, FastAPI, Supabase PostgreSQL, geospatial Leaflet routing, production API contracts, and automated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3200400"/>
            <a:ext cx="66568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1D4ED8"/>
                </a:solidFill>
                <a:latin typeface="Calibri"/>
              </a:defRPr>
            </a:pPr>
            <a:r>
              <a:t>[AI]  Decision Systems</a:t>
            </a:r>
          </a:p>
          <a:p>
            <a:pPr algn="l"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Gemini 2.0 Flash extraction with strict schema guardrails; transparent 100-point matching formula and hard eligibility screening.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4160520"/>
            <a:ext cx="66568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1D4ED8"/>
                </a:solidFill>
                <a:latin typeface="Calibri"/>
              </a:defRPr>
            </a:pPr>
            <a:r>
              <a:t>[CLM]  Climate &amp; Compliance Research</a:t>
            </a:r>
          </a:p>
          <a:p>
            <a:pPr algn="l"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ISO 59040-aligned Digital Material Passports, LCA carbon displacement methodology, and SEBI BRSR Core compliance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5120640"/>
            <a:ext cx="66568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1D4ED8"/>
                </a:solidFill>
                <a:latin typeface="Calibri"/>
              </a:defRPr>
            </a:pPr>
            <a:r>
              <a:t>[OPS]  Enterprise Operations &amp; Scale</a:t>
            </a:r>
          </a:p>
          <a:p>
            <a:pPr algn="l">
              <a:spcBef>
                <a:spcPts val="2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Ground-level pilot execution, weighbridge verification protocols, and EHS regulatory alignment across NCR manufacturing hubs.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3C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  <a:latin typeface="Segoe UI"/>
              </a:defRPr>
            </a:pPr>
            <a:r>
              <a:t>THEME 07:  WARM ECO-CRAFT &amp; EARTH  •  SLIDE 1/4: COVER &amp; THESIS</a:t>
            </a:r>
            <a:r>
              <a:rPr b="0" sz="850">
                <a:solidFill>
                  <a:srgbClr val="9CA3AF"/>
                </a:solidFill>
              </a:rPr>
              <a:t>    |    FONTS: Century Gothic throughout    |    PALETTE: Linen (#F4EFEA) • Olive (#2D3A29) • Terracotta (#C86446)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Century Gothic"/>
              </a:defRPr>
            </a:pPr>
            <a:r>
              <a:t>CIRCULARMATCH</a:t>
            </a:r>
          </a:p>
          <a:p>
            <a:pPr>
              <a:spcBef>
                <a:spcPts val="200"/>
              </a:spcBef>
              <a:defRPr b="1" sz="950">
                <a:solidFill>
                  <a:srgbClr val="C86446"/>
                </a:solidFill>
                <a:latin typeface="Century Gothic"/>
              </a:defRPr>
            </a:pPr>
            <a:r>
              <a:t>CIRCULAR COMMERCE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Century Gothic"/>
              </a:defRPr>
            </a:pPr>
            <a:r>
              <a:t>Closing the loop on industrial material discard.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C8D7C3"/>
                </a:solidFill>
                <a:latin typeface="Century Gothic"/>
              </a:defRPr>
            </a:pPr>
            <a:r>
              <a:t>Connecting manufacturing by-products with certified reuse partners through digital material passports and transparent unit economics.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24688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>
              <a:defRPr b="1" sz="850">
                <a:solidFill>
                  <a:srgbClr val="C86446"/>
                </a:solidFill>
                <a:latin typeface="Century Gothic"/>
              </a:defRPr>
            </a:pPr>
            <a:r>
              <a:t>TRACEABILITY</a:t>
            </a:r>
          </a:p>
          <a:p>
            <a:pPr algn="l">
              <a:defRPr b="1" sz="1300">
                <a:solidFill>
                  <a:srgbClr val="2D3A29"/>
                </a:solidFill>
                <a:latin typeface="Century Gothic"/>
              </a:defRPr>
            </a:pPr>
            <a:r>
              <a:t>100-Point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166360"/>
            <a:ext cx="2468880" cy="868680"/>
          </a:xfrm>
          <a:prstGeom prst="roundRect">
            <a:avLst/>
          </a:prstGeom>
          <a:solidFill>
            <a:srgbClr val="C86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>
              <a:defRPr b="1" sz="850">
                <a:solidFill>
                  <a:srgbClr val="FFF0E6"/>
                </a:solidFill>
                <a:latin typeface="Century Gothic"/>
              </a:defRPr>
            </a:pPr>
            <a:r>
              <a:t>ACTIVE PILOT</a:t>
            </a:r>
          </a:p>
          <a:p>
            <a:pPr algn="l">
              <a:defRPr b="1" sz="1300">
                <a:solidFill>
                  <a:srgbClr val="FFFFFF"/>
                </a:solidFill>
                <a:latin typeface="Century Gothic"/>
              </a:defRPr>
            </a:pPr>
            <a:r>
              <a:t>NCR Production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297680"/>
          </a:xfrm>
          <a:prstGeom prst="roundRect">
            <a:avLst/>
          </a:prstGeom>
          <a:solidFill>
            <a:srgbClr val="232E20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_browser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059375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07:  WARM ECO-CRAFT &amp; EARTH  •  SLIDE 2/4: PHYSICAL FRICTION &amp; PROBLEM</a:t>
            </a:r>
            <a:r>
              <a:rPr b="0" sz="850">
                <a:solidFill>
                  <a:srgbClr val="475569"/>
                </a:solidFill>
              </a:rPr>
              <a:t>    |    FONTS: Century Gothic throughout    |    PALETTE: Linen (#F4EFEA) • Olive (#2D3A29) • Terracotta (#C86446)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THE RECYCLING FRICTION</a:t>
            </a:r>
          </a:p>
          <a:p>
            <a:pPr>
              <a:spcBef>
                <a:spcPts val="300"/>
              </a:spcBef>
              <a:defRPr b="1" sz="2600">
                <a:solidFill>
                  <a:srgbClr val="2D3A29"/>
                </a:solidFill>
                <a:latin typeface="Century Gothic"/>
              </a:defRPr>
            </a:pPr>
            <a:r>
              <a:t>Discovery is solved. Physical qualification is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468880" cy="2468880"/>
          </a:xfrm>
          <a:prstGeom prst="round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BUYER GATE</a:t>
            </a:r>
          </a:p>
          <a:p>
            <a:pPr algn="l">
              <a:spcBef>
                <a:spcPts val="600"/>
              </a:spcBef>
              <a:defRPr b="1" sz="4400">
                <a:solidFill>
                  <a:srgbClr val="FFFFFF"/>
                </a:solidFill>
                <a:latin typeface="Century Gothic"/>
              </a:defRPr>
            </a:pPr>
            <a:r>
              <a:t>30–60%</a:t>
            </a:r>
          </a:p>
          <a:p>
            <a:pPr algn="l">
              <a:spcBef>
                <a:spcPts val="600"/>
              </a:spcBef>
              <a:defRPr sz="1050">
                <a:solidFill>
                  <a:srgbClr val="C8D7C3"/>
                </a:solidFill>
                <a:latin typeface="Century Gothic"/>
              </a:defRPr>
            </a:pPr>
            <a:r>
              <a:t>of new-supplier secondary material is rejected upon arrival at the buyer's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240280"/>
            <a:ext cx="3474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b="1" sz="1100">
                <a:solidFill>
                  <a:srgbClr val="2D3A29"/>
                </a:solidFill>
                <a:latin typeface="Century Gothic"/>
              </a:defRPr>
            </a:pPr>
            <a:r>
              <a:t>01  Generic descriptions</a:t>
            </a:r>
          </a:p>
          <a:p>
            <a:pPr algn="l">
              <a:spcBef>
                <a:spcPts val="200"/>
              </a:spcBef>
              <a:defRPr sz="950">
                <a:solidFill>
                  <a:srgbClr val="5F695A"/>
                </a:solidFill>
                <a:latin typeface="Century Gothic"/>
              </a:defRPr>
            </a:pPr>
            <a:r>
              <a:t>Informal scrap listings omit polymer purity, melt flow index, and moisture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108960"/>
            <a:ext cx="3474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b="1" sz="1100">
                <a:solidFill>
                  <a:srgbClr val="2D3A29"/>
                </a:solidFill>
                <a:latin typeface="Century Gothic"/>
              </a:defRPr>
            </a:pPr>
            <a:r>
              <a:t>02  Freight before proof</a:t>
            </a:r>
          </a:p>
          <a:p>
            <a:pPr algn="l">
              <a:spcBef>
                <a:spcPts val="200"/>
              </a:spcBef>
              <a:defRPr sz="950">
                <a:solidFill>
                  <a:srgbClr val="5F695A"/>
                </a:solidFill>
                <a:latin typeface="Century Gothic"/>
              </a:defRPr>
            </a:pPr>
            <a:r>
              <a:t>Trucks dispatch before acceptance criteria are locked, creating dead-haulage waste.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977640"/>
            <a:ext cx="3474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defRPr b="1" sz="1100">
                <a:solidFill>
                  <a:srgbClr val="2D3A29"/>
                </a:solidFill>
                <a:latin typeface="Century Gothic"/>
              </a:defRPr>
            </a:pPr>
            <a:r>
              <a:t>03  No compliance trail</a:t>
            </a:r>
          </a:p>
          <a:p>
            <a:pPr algn="l">
              <a:spcBef>
                <a:spcPts val="200"/>
              </a:spcBef>
              <a:defRPr sz="950">
                <a:solidFill>
                  <a:srgbClr val="5F695A"/>
                </a:solidFill>
                <a:latin typeface="Century Gothic"/>
              </a:defRPr>
            </a:pPr>
            <a:r>
              <a:t>Informal cash receipts fail statutory SEBI BRSR and CPCB EPR chain-of-custody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92040"/>
            <a:ext cx="612648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6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950">
                <a:solidFill>
                  <a:srgbClr val="C86446"/>
                </a:solidFill>
                <a:latin typeface="Century Gothic"/>
              </a:defRPr>
            </a:pPr>
            <a:r>
              <a:t>THE MISSING INTERVENTION</a:t>
            </a:r>
          </a:p>
          <a:p>
            <a:pPr algn="l">
              <a:spcBef>
                <a:spcPts val="200"/>
              </a:spcBef>
              <a:defRPr sz="1050">
                <a:solidFill>
                  <a:srgbClr val="2D3A29"/>
                </a:solidFill>
                <a:latin typeface="Century Gothic"/>
              </a:defRPr>
            </a:pPr>
            <a:r>
              <a:t>Without verified qualification upfront, digital discovery only accelerates dead-haulage and gate rejection costs.</a:t>
            </a:r>
          </a:p>
        </p:txBody>
      </p:sp>
      <p:pic>
        <p:nvPicPr>
          <p:cNvPr id="11" name="Picture 10" descr="warehouse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240280"/>
            <a:ext cx="437083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0E7490"/>
                </a:solidFill>
                <a:latin typeface="Segoe UI"/>
              </a:defRPr>
            </a:pPr>
            <a:r>
              <a:t>THEME 07:  WARM ECO-CRAFT &amp; EARTH  •  SLIDE 3/4: MATERIAL PASSPORT DEMO</a:t>
            </a:r>
            <a:r>
              <a:rPr b="0" sz="850">
                <a:solidFill>
                  <a:srgbClr val="475569"/>
                </a:solidFill>
              </a:rPr>
              <a:t>    |    FONTS: Century Gothic throughout    |    PALETTE: Linen (#F4EFEA) • Olive (#2D3A29) • Terracotta (#C86446)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DIGITAL MATERIAL PASSPORT (ISO 59040)</a:t>
            </a:r>
          </a:p>
          <a:p>
            <a:pPr>
              <a:spcBef>
                <a:spcPts val="300"/>
              </a:spcBef>
              <a:defRPr b="1" sz="2600">
                <a:solidFill>
                  <a:srgbClr val="2D3A29"/>
                </a:solidFill>
                <a:latin typeface="Century Gothic"/>
              </a:defRPr>
            </a:pPr>
            <a:r>
              <a:t>Evidence-backed records that survive the physical handoff.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4864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2_pas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5303520" cy="33147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2240280"/>
            <a:ext cx="4967935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150">
                <a:solidFill>
                  <a:srgbClr val="2D3A29"/>
                </a:solidFill>
                <a:latin typeface="Century Gothic"/>
              </a:defRPr>
            </a:pPr>
            <a:r>
              <a:t>TRACEABLE ORIGIN</a:t>
            </a:r>
          </a:p>
          <a:p>
            <a:pPr algn="l">
              <a:spcBef>
                <a:spcPts val="3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Every lot records generator manufacturing coordinates, batch timestamp, and verified plant contact.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520440"/>
            <a:ext cx="4967935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150">
                <a:solidFill>
                  <a:srgbClr val="C86446"/>
                </a:solidFill>
                <a:latin typeface="Century Gothic"/>
              </a:defRPr>
            </a:pPr>
            <a:r>
              <a:t>AVOIDED CARBON DISPLACEMENT</a:t>
            </a:r>
          </a:p>
          <a:p>
            <a:pPr algn="l">
              <a:spcBef>
                <a:spcPts val="3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Quantified Scope 3 carbon reduction calculated per ISO 14040/44 lifecycle assessment.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800600"/>
            <a:ext cx="4967935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150">
                <a:solidFill>
                  <a:srgbClr val="2D3A29"/>
                </a:solidFill>
                <a:latin typeface="Century Gothic"/>
              </a:defRPr>
            </a:pPr>
            <a:r>
              <a:t>CHAIN-OF-CUSTODY COMPLIANCE</a:t>
            </a:r>
          </a:p>
          <a:p>
            <a:pPr algn="l">
              <a:spcBef>
                <a:spcPts val="300"/>
              </a:spcBef>
              <a:defRPr sz="1000">
                <a:solidFill>
                  <a:srgbClr val="5F695A"/>
                </a:solidFill>
                <a:latin typeface="Century Gothic"/>
              </a:defRPr>
            </a:pPr>
            <a:r>
              <a:t>Weighbridge verification and digital bill-of-lading receipts ready for statutory CPCB reporting.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475488"/>
          </a:xfrm>
          <a:prstGeom prst="roundRect">
            <a:avLst/>
          </a:prstGeom>
          <a:solidFill>
            <a:srgbClr val="18181E"/>
          </a:solidFill>
          <a:ln w="12700">
            <a:solidFill>
              <a:srgbClr val="3C4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0040"/>
            <a:ext cx="10424160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  <a:latin typeface="Segoe UI"/>
              </a:defRPr>
            </a:pPr>
            <a:r>
              <a:t>THEME 07:  WARM ECO-CRAFT &amp; EARTH  •  SLIDE 4/4: VISION &amp; CALL TO ACTION</a:t>
            </a:r>
            <a:r>
              <a:rPr b="0" sz="850">
                <a:solidFill>
                  <a:srgbClr val="9CA3AF"/>
                </a:solidFill>
              </a:rPr>
              <a:t>    |    FONTS: Century Gothic throughout    |    PALETTE: Linen (#F4EFEA) • Olive (#2D3A29) • Terracotta (#C86446)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C86446"/>
                </a:solidFill>
                <a:latin typeface="Century Gothic"/>
              </a:defRPr>
            </a:pPr>
            <a:r>
              <a:t>THE NEXT MILESTONE</a:t>
            </a:r>
          </a:p>
          <a:p>
            <a:pPr>
              <a:spcBef>
                <a:spcPts val="300"/>
              </a:spcBef>
              <a:defRPr b="1" sz="2500">
                <a:solidFill>
                  <a:srgbClr val="FFFFFF"/>
                </a:solidFill>
                <a:latin typeface="Century Gothic"/>
              </a:defRPr>
            </a:pPr>
            <a:r>
              <a:t>Help us turn the first 5 audited material flows into the regional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063240" cy="1920240"/>
          </a:xfrm>
          <a:prstGeom prst="roundRect">
            <a:avLst/>
          </a:prstGeom>
          <a:solidFill>
            <a:srgbClr val="2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950">
                <a:solidFill>
                  <a:srgbClr val="C86446"/>
                </a:solidFill>
                <a:latin typeface="Century Gothic"/>
              </a:defRPr>
            </a:pPr>
            <a:r>
              <a:t>01 / PILOT PARTNERS</a:t>
            </a:r>
          </a:p>
          <a:p>
            <a:pPr algn="l">
              <a:spcBef>
                <a:spcPts val="400"/>
              </a:spcBef>
              <a:defRPr b="1" sz="2000">
                <a:solidFill>
                  <a:srgbClr val="FFFFFF"/>
                </a:solidFill>
                <a:latin typeface="Century Gothic"/>
              </a:defRPr>
            </a:pPr>
            <a:r>
              <a:t>5 NCR EHS Teams</a:t>
            </a:r>
          </a:p>
          <a:p>
            <a:pPr algn="l">
              <a:spcBef>
                <a:spcPts val="600"/>
              </a:spcBef>
              <a:defRPr sz="1050">
                <a:solidFill>
                  <a:srgbClr val="C8D7C3"/>
                </a:solidFill>
                <a:latin typeface="Century Gothic"/>
              </a:defRPr>
            </a:pPr>
            <a:r>
              <a:t>3-month managed compliance pilot on active factory plastic and textile discard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331720"/>
            <a:ext cx="3063240" cy="1920240"/>
          </a:xfrm>
          <a:prstGeom prst="roundRect">
            <a:avLst/>
          </a:prstGeom>
          <a:solidFill>
            <a:srgbClr val="23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950">
                <a:solidFill>
                  <a:srgbClr val="C86446"/>
                </a:solidFill>
                <a:latin typeface="Century Gothic"/>
              </a:defRPr>
            </a:pPr>
            <a:r>
              <a:t>02 / CAPITAL + SCALE</a:t>
            </a:r>
          </a:p>
          <a:p>
            <a:pPr algn="l">
              <a:spcBef>
                <a:spcPts val="400"/>
              </a:spcBef>
              <a:defRPr b="1" sz="2000">
                <a:solidFill>
                  <a:srgbClr val="FFFFFF"/>
                </a:solidFill>
                <a:latin typeface="Century Gothic"/>
              </a:defRPr>
            </a:pPr>
            <a:r>
              <a:t>Pre-Seed After Proof</a:t>
            </a:r>
          </a:p>
          <a:p>
            <a:pPr algn="l">
              <a:spcBef>
                <a:spcPts val="600"/>
              </a:spcBef>
              <a:defRPr sz="1050">
                <a:solidFill>
                  <a:srgbClr val="C8D7C3"/>
                </a:solidFill>
                <a:latin typeface="Century Gothic"/>
              </a:defRPr>
            </a:pPr>
            <a:r>
              <a:t>Trigger: 5+ verified volume transactions + 3+ paying SaaS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6309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000">
                <a:solidFill>
                  <a:srgbClr val="C86446"/>
                </a:solidFill>
                <a:latin typeface="Century Gothic"/>
              </a:defRPr>
            </a:pPr>
            <a:r>
              <a:t>TURN INDUSTRIAL WASTE INTO QUALIFIED VALUE.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Century Gothic"/>
              </a:defRPr>
            </a:pPr>
            <a:r>
              <a:t>Join us in transforming industrial discard streams into transparent, auditable secondary material supply chains.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463040"/>
            <a:ext cx="414497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45920"/>
            <a:ext cx="4144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b="1" sz="1200">
                <a:solidFill>
                  <a:srgbClr val="2D3A29"/>
                </a:solidFill>
                <a:latin typeface="Century Gothic"/>
              </a:defRPr>
            </a:pPr>
            <a:r>
              <a:t>TRY THE LIVE PRODUCT</a:t>
            </a:r>
          </a:p>
        </p:txBody>
      </p:sp>
      <p:pic>
        <p:nvPicPr>
          <p:cNvPr id="11" name="Picture 10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03120"/>
            <a:ext cx="2039112" cy="20391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4251960"/>
            <a:ext cx="396209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600">
                <a:solidFill>
                  <a:srgbClr val="2D3A29"/>
                </a:solidFill>
                <a:latin typeface="Century Gothic"/>
              </a:defRPr>
            </a:pPr>
            <a:r>
              <a:t>circularmatch.vercel.app</a:t>
            </a:r>
          </a:p>
          <a:p>
            <a:pPr algn="ctr">
              <a:spcBef>
                <a:spcPts val="600"/>
              </a:spcBef>
              <a:defRPr b="1" sz="950">
                <a:solidFill>
                  <a:srgbClr val="C86446"/>
                </a:solidFill>
                <a:latin typeface="Century Gothic"/>
              </a:defRPr>
            </a:pPr>
            <a:r>
              <a:t>CODE &amp; TECHNICAL PROOF</a:t>
            </a:r>
          </a:p>
          <a:p>
            <a:pPr algn="ctr">
              <a:spcBef>
                <a:spcPts val="200"/>
              </a:spcBef>
              <a:defRPr b="1" sz="1200">
                <a:solidFill>
                  <a:srgbClr val="C86446"/>
                </a:solidFill>
                <a:latin typeface="Century Gothic"/>
              </a:defRPr>
            </a:pPr>
            <a:r>
              <a:t>github.com/circularmatch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