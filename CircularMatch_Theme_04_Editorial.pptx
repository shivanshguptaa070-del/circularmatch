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5029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Georgia"/>
              </a:defRPr>
            </a:pPr>
            <a:r>
              <a:t>CIRCULARMATCH</a:t>
            </a:r>
          </a:p>
          <a:p>
            <a:pPr>
              <a:spcBef>
                <a:spcPts val="200"/>
              </a:spcBef>
              <a:defRPr b="1" sz="950">
                <a:solidFill>
                  <a:srgbClr val="B8860B"/>
                </a:solidFill>
                <a:latin typeface="Georgia"/>
              </a:defRPr>
            </a:pPr>
            <a:r>
              <a:t>INDUSTRIAL MATERIAL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840480" cy="475488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B8860B"/>
                </a:solidFill>
                <a:latin typeface="Georgia"/>
              </a:defRPr>
            </a:pPr>
            <a:r>
              <a:t>ENTERPRISE PRODUCT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Georgia"/>
              </a:defRPr>
            </a:pPr>
            <a:r>
              <a:t>Turn industrial waste</a:t>
            </a:r>
            <a:br/>
            <a:r>
              <a:t>into qualified,</a:t>
            </a:r>
            <a:br/>
            <a:r>
              <a:t>compliant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C8D2CD"/>
                </a:solidFill>
                <a:latin typeface="Calibri"/>
              </a:defRPr>
            </a:pPr>
            <a:r>
              <a:t>The intelligence and trust layer connecting factory by-products with verified secondary-material buyers.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233172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8C8273"/>
                </a:solidFill>
                <a:latin typeface="Georgia"/>
              </a:defRPr>
            </a:pPr>
            <a:r>
              <a:t>EXPLAINABLE</a:t>
            </a:r>
          </a:p>
          <a:p>
            <a:pPr algn="l">
              <a:defRPr b="1" sz="1300">
                <a:solidFill>
                  <a:srgbClr val="14241C"/>
                </a:solidFill>
                <a:latin typeface="Georgia"/>
              </a:defRPr>
            </a:pPr>
            <a:r>
              <a:t>100-point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5212080"/>
            <a:ext cx="2331720" cy="80467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l">
              <a:defRPr b="1" sz="900">
                <a:solidFill>
                  <a:srgbClr val="321E00"/>
                </a:solidFill>
                <a:latin typeface="Georgia"/>
              </a:defRPr>
            </a:pPr>
            <a:r>
              <a:t>CURRENT STATUS</a:t>
            </a:r>
          </a:p>
          <a:p>
            <a:pPr algn="l">
              <a:defRPr b="1" sz="1300">
                <a:solidFill>
                  <a:srgbClr val="141414"/>
                </a:solidFill>
                <a:latin typeface="Georgia"/>
              </a:defRPr>
            </a:pPr>
            <a:r>
              <a:t>Trusted pilot core</a:t>
            </a:r>
          </a:p>
        </p:txBody>
      </p:sp>
      <p:pic>
        <p:nvPicPr>
          <p:cNvPr id="9" name="Picture 8" descr="hero_browser_preview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280160"/>
            <a:ext cx="5760720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alibri"/>
              </a:defRPr>
            </a:pPr>
            <a:r>
              <a:t>CIRCULARMATCH • INDUSTRIAL MATERIAL INTELLIGENCE   •   circularmatch.vercel.app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alibr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01 / OVERVIEW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CircularMatch is the qualification layer between waste and reuse.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It turns messy material claims into evidence-backed records, ranked buyers, and an auditable transaction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01  INPUT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14241C"/>
                </a:solidFill>
                <a:latin typeface="Georgia"/>
              </a:defRPr>
            </a:pPr>
            <a:r>
              <a:t>Describe</a:t>
            </a:r>
          </a:p>
          <a:p>
            <a:pPr algn="l">
              <a:spcBef>
                <a:spcPts val="6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One natural-language factory description without form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1508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02  AI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14241C"/>
                </a:solidFill>
                <a:latin typeface="Georgia"/>
              </a:defRPr>
            </a:pPr>
            <a:r>
              <a:t>Structure</a:t>
            </a:r>
          </a:p>
          <a:p>
            <a:pPr algn="l">
              <a:spcBef>
                <a:spcPts val="6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Editable fields with deterministic schema fallback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03  RULES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14241C"/>
                </a:solidFill>
                <a:latin typeface="Georgia"/>
              </a:defRPr>
            </a:pPr>
            <a:r>
              <a:t>Qualify</a:t>
            </a:r>
          </a:p>
          <a:p>
            <a:pPr algn="l">
              <a:spcBef>
                <a:spcPts val="6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Hard eligibility gates before transparent 100-point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1484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04  EVIDENCE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14241C"/>
                </a:solidFill>
                <a:latin typeface="Georgia"/>
              </a:defRPr>
            </a:pPr>
            <a:r>
              <a:t>Prove</a:t>
            </a:r>
          </a:p>
          <a:p>
            <a:pPr algn="l">
              <a:spcBef>
                <a:spcPts val="6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Lot-level passport and 4-tier verification hierarchy.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1472" y="1874519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05  WORKFLOW</a:t>
            </a:r>
          </a:p>
          <a:p>
            <a:pPr algn="l">
              <a:spcBef>
                <a:spcPts val="600"/>
              </a:spcBef>
              <a:defRPr b="1" sz="1600">
                <a:solidFill>
                  <a:srgbClr val="14241C"/>
                </a:solidFill>
                <a:latin typeface="Georgia"/>
              </a:defRPr>
            </a:pPr>
            <a:r>
              <a:t>Transact</a:t>
            </a:r>
          </a:p>
          <a:p>
            <a:pPr algn="l">
              <a:spcBef>
                <a:spcPts val="6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Sample request → verified offer → pickup → audit receipt.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79392"/>
            <a:ext cx="10728655" cy="1783080"/>
          </a:xfrm>
          <a:prstGeom prst="roundRect">
            <a:avLst/>
          </a:prstGeom>
          <a:solidFill>
            <a:srgbClr val="14241C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40740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100">
                <a:solidFill>
                  <a:srgbClr val="B8860B"/>
                </a:solidFill>
                <a:latin typeface="Georgia"/>
              </a:defRPr>
            </a:pPr>
            <a:r>
              <a:t>ONE SYSTEM. THREE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Georgia"/>
              </a:defRPr>
            </a:pPr>
            <a:r>
              <a:t>Generators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alibri"/>
              </a:defRPr>
            </a:pPr>
            <a:r>
              <a:t>Better buyer fit, transparent unit economics, and reusable compliance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Georgia"/>
              </a:defRPr>
            </a:pPr>
            <a:r>
              <a:t>Buyers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alibri"/>
              </a:defRPr>
            </a:pPr>
            <a:r>
              <a:t>Pre-qualified material lots, visible evidence gaps, and fewer gate rejections.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828032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Georgia"/>
              </a:defRPr>
            </a:pPr>
            <a:r>
              <a:t>EHS Teams</a:t>
            </a:r>
          </a:p>
          <a:p>
            <a:pPr>
              <a:spcBef>
                <a:spcPts val="400"/>
              </a:spcBef>
              <a:defRPr sz="1050">
                <a:solidFill>
                  <a:srgbClr val="C8D2CD"/>
                </a:solidFill>
                <a:latin typeface="Calibri"/>
              </a:defRPr>
            </a:pPr>
            <a:r>
              <a:t>Chain-of-custody audit records designed for statutory BRSR and EPR workflows.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  •   Platform Architecture &amp; Value Chain 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02 / THE PROBLEM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Discovery is solved. Qualification is not.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The market breaks when specifications, evidence, and compliance must survive the physical handoff.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2468880" cy="2560320"/>
          </a:xfrm>
          <a:prstGeom prst="roundRect">
            <a:avLst/>
          </a:prstGeom>
          <a:solidFill>
            <a:srgbClr val="14241C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BUYER GATE</a:t>
            </a:r>
          </a:p>
          <a:p>
            <a:pPr algn="l">
              <a:spcBef>
                <a:spcPts val="600"/>
              </a:spcBef>
              <a:defRPr b="1" sz="4400">
                <a:solidFill>
                  <a:srgbClr val="FFFFFF"/>
                </a:solidFill>
                <a:latin typeface="Georgia"/>
              </a:defRPr>
            </a:pPr>
            <a:r>
              <a:t>30–60%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alibri"/>
              </a:defRPr>
            </a:pPr>
            <a:r>
              <a:t>of new-supplier secondary material is rejected upon arrival at the buyer's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74519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01  Generic specifications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Grade, contamination, form, and moisture evidence are completely missing from informal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70631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02  Freight before proof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Material moves before acceptance criteria are locked, creating catastrophic dead-haulage risk.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666743"/>
            <a:ext cx="347472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14241C"/>
                </a:solidFill>
                <a:latin typeface="Georgia"/>
              </a:defRPr>
            </a:pPr>
            <a:r>
              <a:t>03  No audit trail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Informal broker paper receipts fail statutory SEBI BRSR and CPCB EPR compliance mandates.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6126480" cy="1371600"/>
          </a:xfrm>
          <a:prstGeom prst="roundRect">
            <a:avLst/>
          </a:prstGeom>
          <a:solidFill>
            <a:srgbClr val="FEF9EB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8C5F05"/>
                </a:solidFill>
                <a:latin typeface="Georgia"/>
              </a:defRPr>
            </a:pPr>
            <a:r>
              <a:t>THE REAL GAP IN THE VALUE CHAIN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14241C"/>
                </a:solidFill>
                <a:latin typeface="Georgia"/>
              </a:defRPr>
            </a:pPr>
            <a:r>
              <a:t>Technical qualification + verifiable evidence + chain of custody.</a:t>
            </a:r>
          </a:p>
          <a:p>
            <a:pPr algn="l">
              <a:spcBef>
                <a:spcPts val="200"/>
              </a:spcBef>
              <a:defRPr sz="1100">
                <a:solidFill>
                  <a:srgbClr val="8C5F05"/>
                </a:solidFill>
                <a:latin typeface="Calibri"/>
              </a:defRPr>
            </a:pPr>
            <a:r>
              <a:t>Without verified qualification upfront, digital discovery only accelerates gate rejections and financial waste.</a:t>
            </a:r>
          </a:p>
        </p:txBody>
      </p:sp>
      <p:pic>
        <p:nvPicPr>
          <p:cNvPr id="9" name="Picture 8" descr="warehouse_photo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188720"/>
            <a:ext cx="4370832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  •   Source: CPCB Secondary Material Reports &amp; Field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03 / THE SOLUTION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AI structures the material. Deterministic rules qualify the match.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AI is used where flexibility helps; explicit logic is used where industrial decisions need reproducibility.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B8860B"/>
                </a:solidFill>
                <a:latin typeface="Georgia"/>
              </a:defRPr>
            </a:pPr>
            <a:r>
              <a:t>[AI]  Natural-language extraction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Factory scrap descriptions become controlled, editable schema records without manual form burden.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7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B8860B"/>
                </a:solidFill>
                <a:latin typeface="Georgia"/>
              </a:defRPr>
            </a:pPr>
            <a:r>
              <a:t>[GATE]  Hard eligibility gates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Material category mismatch, hazardous contaminants, minimum grade, and radius limits are screened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B8860B"/>
                </a:solidFill>
                <a:latin typeface="Georgia"/>
              </a:defRPr>
            </a:pPr>
            <a:r>
              <a:t>[100]  Explainable scoring engine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Material fit (35) • Quality (20) • Quantity (20) • Logistics (15) • Evidence completeness (10).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199"/>
            <a:ext cx="4754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50">
                <a:solidFill>
                  <a:srgbClr val="B8860B"/>
                </a:solidFill>
                <a:latin typeface="Georgia"/>
              </a:defRPr>
            </a:pPr>
            <a:r>
              <a:t>[EPR]  Passport + procurement chain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ISO 59040-aligned evidence states carry into sample verification, commercial offer, and audit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874519"/>
            <a:ext cx="5742432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lide2_list_waste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5960"/>
            <a:ext cx="5559552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  •   Source: Platform Architecture v2.4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04 / LIVE DEMO — INGESTION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One sentence becomes a controlled material record.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The operator remains in control: every extracted field is visible, editable, and reviewable before publishing.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67665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2_list_waste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6583680" cy="411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87451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01  Describe naturally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"Around 3 tonnes of clean PET manufacturing scrap every week in Noida." Plain text, voice, or WhatsApp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288035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02  Extract deterministically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Gemini structures material, quantity, cadence, location, and standard catalog candidates into typed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886199"/>
            <a:ext cx="3730752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03  Review before publish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Supplier-described claims stay unverified until physical evidence or lab test certificates exist.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5029200"/>
            <a:ext cx="3730752" cy="1143000"/>
          </a:xfrm>
          <a:prstGeom prst="roundRect">
            <a:avLst/>
          </a:prstGeom>
          <a:solidFill>
            <a:srgbClr val="FEF9EB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000">
                <a:solidFill>
                  <a:srgbClr val="8C5F05"/>
                </a:solidFill>
                <a:latin typeface="Georgia"/>
              </a:defRPr>
            </a:pPr>
            <a:r>
              <a:t>USEFUL, NOT MAGICAL.</a:t>
            </a:r>
          </a:p>
          <a:p>
            <a:pPr algn="l">
              <a:spcBef>
                <a:spcPts val="300"/>
              </a:spcBef>
              <a:defRPr sz="1000">
                <a:solidFill>
                  <a:srgbClr val="14241C"/>
                </a:solidFill>
                <a:latin typeface="Calibri"/>
              </a:defRPr>
            </a:pPr>
            <a:r>
              <a:t>Gemini 2.0 Flash uses strict JSON schema at temperature 0, backed by rule-based catalog fallback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• PRODUCT DEMO   •   Live Platform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05 / LIVE DEMO — EVIDENCE &amp; ROUTE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Every recommendation carries its evidence and route.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The score is never the whole answer. The passport shows what is known; eligibility gates show what must happen next.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2_passport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047488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230368"/>
            <a:ext cx="50474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B8860B"/>
                </a:solidFill>
                <a:latin typeface="Georgia"/>
              </a:defRPr>
            </a:pPr>
            <a:r>
              <a:t>02  Prove the lot</a:t>
            </a:r>
          </a:p>
          <a:p>
            <a:pPr>
              <a:spcBef>
                <a:spcPts val="2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Attributes, contamination, test certificates, evidence completeness, and carbon impact remain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874519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4_match_detail_roun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965960"/>
            <a:ext cx="5047488" cy="3154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18504" y="5230368"/>
            <a:ext cx="5047488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200">
                <a:solidFill>
                  <a:srgbClr val="B8860B"/>
                </a:solidFill>
                <a:latin typeface="Georgia"/>
              </a:defRPr>
            </a:pPr>
            <a:r>
              <a:t>03  Advance the route</a:t>
            </a:r>
          </a:p>
          <a:p>
            <a:pPr>
              <a:spcBef>
                <a:spcPts val="2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Hard eligibility verification, evidence gaps, net unit economics, sample workflow, and road logistics.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• PRODUCT DEMO   •   Live Captures • Passport + Match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06 / MARKET OPPORTUNITY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A ₹3,000–10,000 Cr NCR material flow is ready for a trusted layer.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The addressable opportunity is not all waste management—it is the industrial trading and documentation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5166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SERVICEABLE MARKET (NCR)</a:t>
            </a:r>
          </a:p>
          <a:p>
            <a:pPr algn="l">
              <a:spcBef>
                <a:spcPts val="400"/>
              </a:spcBef>
              <a:defRPr b="1" sz="4000">
                <a:solidFill>
                  <a:srgbClr val="14241C"/>
                </a:solidFill>
                <a:latin typeface="Georgia"/>
              </a:defRPr>
            </a:pPr>
            <a:r>
              <a:t>₹3K–10K Cr</a:t>
            </a:r>
          </a:p>
          <a:p>
            <a:pPr algn="l">
              <a:spcBef>
                <a:spcPts val="200"/>
              </a:spcBef>
              <a:defRPr sz="1100">
                <a:solidFill>
                  <a:srgbClr val="505A55"/>
                </a:solidFill>
                <a:latin typeface="Calibri"/>
              </a:defRPr>
            </a:pPr>
            <a:r>
              <a:t>Non-hazardous NCR secondary-material GMV across ~2,500 facilities (PET, cotton, cardboard, mild steel).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66360" cy="621792"/>
          </a:xfrm>
          <a:prstGeom prst="round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Georgia"/>
              </a:defRPr>
            </a:pPr>
            <a:r>
              <a:t>TAM • INDIA INDUSTRIAL SCRAP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3840480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Georgia"/>
              </a:defRPr>
            </a:pPr>
            <a:r>
              <a:t>₹80,000–1,20,000 Cr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53712"/>
            <a:ext cx="5166360" cy="621792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53712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Georgia"/>
              </a:defRPr>
            </a:pPr>
            <a:r>
              <a:t>SAM • NCR MANUFACTURING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4553712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Georgia"/>
              </a:defRPr>
            </a:pPr>
            <a:r>
              <a:t>₹3,000–10,000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66944"/>
            <a:ext cx="5166360" cy="621792"/>
          </a:xfrm>
          <a:prstGeom prst="round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66944"/>
            <a:ext cx="32918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defRPr b="1" sz="1100">
                <a:solidFill>
                  <a:srgbClr val="FFFFFF"/>
                </a:solidFill>
                <a:latin typeface="Georgia"/>
              </a:defRPr>
            </a:pPr>
            <a:r>
              <a:t>SOM • PILOT PHASE (YEAR 1–2)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5266944"/>
            <a:ext cx="1691640" cy="6217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defRPr b="1" sz="1100">
                <a:solidFill>
                  <a:srgbClr val="FFFFFF"/>
                </a:solidFill>
                <a:latin typeface="Georgia"/>
              </a:defRPr>
            </a:pPr>
            <a:r>
              <a:t>₹1–7.5 Cr /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1,000  ·  LISTED COMPANIES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SEBI BRSR Core mandate legally requires traceable waste reporting by FY26-27.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98647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30 → 60%  ·  RECYCLED CONTENT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Statutory rigid-plastic recycled content targets rise through FY28-29 under EPR regulations.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22775"/>
            <a:ext cx="5285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200">
                <a:solidFill>
                  <a:srgbClr val="B8860B"/>
                </a:solidFill>
                <a:latin typeface="Georgia"/>
              </a:defRPr>
            </a:pPr>
            <a:r>
              <a:t>18 FEB 2027  ·  EU DIGITAL PRODUCT PASSPORT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Indian manufacturing exporters need machine-readable digital product passports to enter the EU.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5029200"/>
            <a:ext cx="5285232" cy="1005840"/>
          </a:xfrm>
          <a:prstGeom prst="roundRect">
            <a:avLst/>
          </a:prstGeom>
          <a:solidFill>
            <a:srgbClr val="FEF9EB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l">
              <a:defRPr b="1" sz="1000">
                <a:solidFill>
                  <a:srgbClr val="8C5F05"/>
                </a:solidFill>
                <a:latin typeface="Georgia"/>
              </a:defRPr>
            </a:pPr>
            <a:r>
              <a:t>INITIAL MARKET WEDGE</a:t>
            </a:r>
          </a:p>
          <a:p>
            <a:pPr algn="l">
              <a:spcBef>
                <a:spcPts val="200"/>
              </a:spcBef>
              <a:defRPr sz="1100">
                <a:solidFill>
                  <a:srgbClr val="14241C"/>
                </a:solidFill>
                <a:latin typeface="Calibri"/>
              </a:defRPr>
            </a:pPr>
            <a:r>
              <a:t>EHS teams already exposed to statutory audit liabilities cannot afford informal broker transactions.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• MARKET   •   Source: CPCB, SEBI BRSR &amp; Market Sizing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07 / BUSINESS MODEL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Compliance SaaS makes the marketplace hard to bypass.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Discovery attracts both sides. Documentation creates recurring value. Verification adds transaction upside.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01  FREE HOOK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14241C"/>
                </a:solidFill>
                <a:latin typeface="Georgia"/>
              </a:defRPr>
            </a:pPr>
            <a:r>
              <a:t>Listing + Discovery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B8860B"/>
                </a:solidFill>
                <a:latin typeface="Georgia"/>
              </a:defRPr>
            </a:pPr>
            <a:r>
              <a:t>₹0</a:t>
            </a:r>
          </a:p>
          <a:p>
            <a:pPr algn="l">
              <a:spcBef>
                <a:spcPts val="6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Acquire supply and demand without friction.</a:t>
            </a:r>
            <a:br/>
            <a:r>
              <a:t>Unlimited catalog browsing, natural-language listing, and standard match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02  RECURRING CORE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14241C"/>
                </a:solidFill>
                <a:latin typeface="Georgia"/>
              </a:defRPr>
            </a:pPr>
            <a:r>
              <a:t>Compliance Documentation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B8860B"/>
                </a:solidFill>
                <a:latin typeface="Georgia"/>
              </a:defRPr>
            </a:pPr>
            <a:r>
              <a:t>₹5K–25K / mo</a:t>
            </a:r>
          </a:p>
          <a:p>
            <a:pPr algn="l">
              <a:spcBef>
                <a:spcPts val="6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Verifiable evidence states, lot-level passports, chain-of-custody PDF export, and statutory BRSR &amp; EPR audit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10144" y="1874519"/>
            <a:ext cx="3456432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03  VOLUME UPSIDE</a:t>
            </a:r>
          </a:p>
          <a:p>
            <a:pPr algn="l">
              <a:spcBef>
                <a:spcPts val="400"/>
              </a:spcBef>
              <a:defRPr b="1" sz="1500">
                <a:solidFill>
                  <a:srgbClr val="14241C"/>
                </a:solidFill>
                <a:latin typeface="Georgia"/>
              </a:defRPr>
            </a:pPr>
            <a:r>
              <a:t>Verification + Facilitation</a:t>
            </a:r>
          </a:p>
          <a:p>
            <a:pPr algn="l">
              <a:spcBef>
                <a:spcPts val="400"/>
              </a:spcBef>
              <a:defRPr b="1" sz="1800">
                <a:solidFill>
                  <a:srgbClr val="B8860B"/>
                </a:solidFill>
                <a:latin typeface="Georgia"/>
              </a:defRPr>
            </a:pPr>
            <a:r>
              <a:t>₹500–5K / lot + 1.5–2%</a:t>
            </a:r>
          </a:p>
          <a:p>
            <a:pPr algn="l">
              <a:spcBef>
                <a:spcPts val="6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Pre-shipment batch sample testing, escrow payment facilitation, and guaranteed dispatch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6858000" cy="1371600"/>
          </a:xfrm>
          <a:prstGeom prst="roundRect">
            <a:avLst/>
          </a:prstGeom>
          <a:solidFill>
            <a:srgbClr val="14241C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WHY CUSTOMERS STAY (RETENTION MOAT)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The platform remains indispensable after discovery because evidence, inspection records, and compliance histories continue to compound.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4663440"/>
            <a:ext cx="363931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COMMERCIAL READINESS</a:t>
            </a:r>
          </a:p>
          <a:p>
            <a:pPr algn="l">
              <a:spcBef>
                <a:spcPts val="300"/>
              </a:spcBef>
              <a:defRPr b="1" sz="1200">
                <a:solidFill>
                  <a:srgbClr val="14241C"/>
                </a:solidFill>
                <a:latin typeface="Georgia"/>
              </a:defRPr>
            </a:pPr>
            <a:r>
              <a:t>Current State: Fully operational trusted pilot core.</a:t>
            </a:r>
          </a:p>
          <a:p>
            <a:pPr algn="l">
              <a:spcBef>
                <a:spcPts val="200"/>
              </a:spcBef>
              <a:defRPr sz="1000">
                <a:solidFill>
                  <a:srgbClr val="505A55"/>
                </a:solidFill>
                <a:latin typeface="Calibri"/>
              </a:defRPr>
            </a:pPr>
            <a:r>
              <a:t>Immediate Target: 5 paying EHS pilot customers • 100 documented material transactions across Delhi-NCR.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• BUSINESS   •   Unit Economics &amp; Commercial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08 / COMPETITIVE MATRIX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We do not win on discovery—we win on qualification + compliance.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CircularMatch's advantage is a narrow industrial B2B workflow—not a claim that competitors lack technology.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74519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920240"/>
                <a:gridCol w="1920240"/>
                <a:gridCol w="1920240"/>
                <a:gridCol w="2041855"/>
              </a:tblGrid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4241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RECYKAL</a:t>
                      </a:r>
                    </a:p>
                  </a:txBody>
                  <a:tcPr>
                    <a:solidFill>
                      <a:srgbClr val="14241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INDIAMART</a:t>
                      </a:r>
                    </a:p>
                  </a:txBody>
                  <a:tcPr>
                    <a:solidFill>
                      <a:srgbClr val="14241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SCRAP BROKERS</a:t>
                      </a:r>
                    </a:p>
                  </a:txBody>
                  <a:tcPr>
                    <a:solidFill>
                      <a:srgbClr val="14241C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CIRCULARMATCH</a:t>
                      </a:r>
                    </a:p>
                  </a:txBody>
                  <a:tcPr>
                    <a:solidFill>
                      <a:srgbClr val="B8860B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14241C"/>
                          </a:solidFill>
                          <a:latin typeface="Calibri"/>
                        </a:defRPr>
                      </a:pPr>
                      <a:r>
                        <a:t>Discovery &amp; network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Local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8C5F05"/>
                          </a:solidFill>
                          <a:latin typeface="Calibri"/>
                        </a:defRPr>
                      </a:pPr>
                      <a:r>
                        <a:t>Focused Pilot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14241C"/>
                          </a:solidFill>
                          <a:latin typeface="Calibri"/>
                        </a:defRPr>
                      </a:pPr>
                      <a:r>
                        <a:t>Industrial spec qualification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Manual / Phone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8C5F05"/>
                          </a:solidFill>
                          <a:latin typeface="Calibri"/>
                        </a:defRPr>
                      </a:pPr>
                      <a:r>
                        <a:t>Core (Automated)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14241C"/>
                          </a:solidFill>
                          <a:latin typeface="Calibri"/>
                        </a:defRPr>
                      </a:pPr>
                      <a:r>
                        <a:t>Explainable match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Not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Manual / Informal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8C5F05"/>
                          </a:solidFill>
                          <a:latin typeface="Calibri"/>
                        </a:defRPr>
                      </a:pPr>
                      <a:r>
                        <a:t>Core (100-Point)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14241C"/>
                          </a:solidFill>
                          <a:latin typeface="Calibri"/>
                        </a:defRPr>
                      </a:pPr>
                      <a:r>
                        <a:t>Lot-level evidence passport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2EEE6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8C5F05"/>
                          </a:solidFill>
                          <a:latin typeface="Calibri"/>
                        </a:defRPr>
                      </a:pPr>
                      <a:r>
                        <a:t>Core (ISO-Aligned)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  <a:tr h="426720">
                <a:tc>
                  <a:txBody>
                    <a:bodyPr wrap="square" anchor="ctr" lIns="109728" rIns="109728"/>
                    <a:lstStyle/>
                    <a:p>
                      <a:pPr algn="l">
                        <a:defRPr sz="1050" b="1">
                          <a:solidFill>
                            <a:srgbClr val="14241C"/>
                          </a:solidFill>
                          <a:latin typeface="Calibri"/>
                        </a:defRPr>
                      </a:pPr>
                      <a:r>
                        <a:t>BRSR &amp; EPR chain of custody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Emerging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>
                          <a:solidFill>
                            <a:srgbClr val="505A55"/>
                          </a:solidFill>
                          <a:latin typeface="Calibri"/>
                        </a:defRPr>
                      </a:pPr>
                      <a:r>
                        <a:t>Zero /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09728" rIns="109728"/>
                    <a:lstStyle/>
                    <a:p>
                      <a:pPr algn="ctr">
                        <a:defRPr sz="1050" b="1">
                          <a:solidFill>
                            <a:srgbClr val="8C5F05"/>
                          </a:solidFill>
                          <a:latin typeface="Calibri"/>
                        </a:defRPr>
                      </a:pPr>
                      <a:r>
                        <a:t>Core Wedge</a:t>
                      </a:r>
                    </a:p>
                  </a:txBody>
                  <a:tcPr>
                    <a:solidFill>
                      <a:srgbClr val="FEF9E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09160"/>
            <a:ext cx="6217920" cy="1371600"/>
          </a:xfrm>
          <a:prstGeom prst="roundRect">
            <a:avLst/>
          </a:prstGeom>
          <a:solidFill>
            <a:srgbClr val="14241C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DIFFERENTIATED CUSTOMER VALUE</a:t>
            </a:r>
          </a:p>
          <a:p>
            <a:pPr algn="l">
              <a:spcBef>
                <a:spcPts val="3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We transform informal ad listings into auditable, buyer-acceptable, evidence-backed secondary material lots.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4709160"/>
            <a:ext cx="4282135" cy="1371600"/>
          </a:xfrm>
          <a:prstGeom prst="roundRect">
            <a:avLst/>
          </a:prstGeom>
          <a:solidFill>
            <a:srgbClr val="FEF9EB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defRPr b="1" sz="1000">
                <a:solidFill>
                  <a:srgbClr val="8C5F05"/>
                </a:solidFill>
                <a:latin typeface="Georgia"/>
              </a:defRPr>
            </a:pPr>
            <a:r>
              <a:t>STRATEGIC EXECUTION WINDOW</a:t>
            </a:r>
          </a:p>
          <a:p>
            <a:pPr algn="l">
              <a:spcBef>
                <a:spcPts val="300"/>
              </a:spcBef>
              <a:defRPr sz="1100">
                <a:solidFill>
                  <a:srgbClr val="14241C"/>
                </a:solidFill>
                <a:latin typeface="Calibri"/>
              </a:defRPr>
            </a:pPr>
            <a:r>
              <a:t>Existing platforms focus on aggregation volume. Our defensive moat is deep technical qualification and statutory audit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• COMPETITION   •   Capability Matrix &amp; Moat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09 / TECHNICAL ARCHITECTURE</a:t>
            </a:r>
          </a:p>
          <a:p>
            <a:pPr>
              <a:spcBef>
                <a:spcPts val="300"/>
              </a:spcBef>
              <a:defRPr b="1" sz="2500">
                <a:solidFill>
                  <a:srgbClr val="FFFFFF"/>
                </a:solidFill>
                <a:latin typeface="Georgia"/>
              </a:defRPr>
            </a:pPr>
            <a:r>
              <a:t>Explainable decisions—not black-box matching.</a:t>
            </a:r>
          </a:p>
          <a:p>
            <a:pPr>
              <a:spcBef>
                <a:spcPts val="300"/>
              </a:spcBef>
              <a:defRPr sz="1250">
                <a:solidFill>
                  <a:srgbClr val="C8D2CD"/>
                </a:solidFill>
                <a:latin typeface="Calibri"/>
              </a:defRPr>
            </a:pPr>
            <a:r>
              <a:t>Flexible AI structures messy inputs; deterministic gates and scoring govern operational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965960" cy="224028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01 / INPUT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Georgia"/>
              </a:defRPr>
            </a:pPr>
            <a:r>
              <a:t>Text + lot data + evidence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alibri"/>
              </a:defRPr>
            </a:pPr>
            <a:r>
              <a:t>Natural-language scrap description, quantity, grade, location, photos, and lab specs.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1508" y="1874519"/>
            <a:ext cx="1965960" cy="224028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02 / STRUCTURE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Georgia"/>
              </a:defRPr>
            </a:pPr>
            <a:r>
              <a:t>Gemini 2.0 Flash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alibri"/>
              </a:defRPr>
            </a:pPr>
            <a:r>
              <a:t>Strict JSON schema at temperature 0 with catalog grounding and deterministic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874519"/>
            <a:ext cx="1965960" cy="224028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03 / SCREEN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Georgia"/>
              </a:defRPr>
            </a:pPr>
            <a:r>
              <a:t>Eligibility gates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alibri"/>
              </a:defRPr>
            </a:pPr>
            <a:r>
              <a:t>Hard pass/fail filters: category mismatch, hazardous contamination, minimum grade, radius.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1484" y="1874519"/>
            <a:ext cx="1965960" cy="224028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04 / RANK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Georgia"/>
              </a:defRPr>
            </a:pPr>
            <a:r>
              <a:t>100-point engine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alibri"/>
              </a:defRPr>
            </a:pPr>
            <a:r>
              <a:t>Material (35) + Quality (20) + Quantity (20) + Logistics (15) + Evidence (10).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1472" y="1874519"/>
            <a:ext cx="1965960" cy="224028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05 / ACT</a:t>
            </a:r>
          </a:p>
          <a:p>
            <a:pPr algn="l">
              <a:spcBef>
                <a:spcPts val="600"/>
              </a:spcBef>
              <a:defRPr b="1" sz="1400">
                <a:solidFill>
                  <a:srgbClr val="FFFFFF"/>
                </a:solidFill>
                <a:latin typeface="Georgia"/>
              </a:defRPr>
            </a:pPr>
            <a:r>
              <a:t>Passport + workflow</a:t>
            </a:r>
          </a:p>
          <a:p>
            <a:pPr algn="l">
              <a:spcBef>
                <a:spcPts val="800"/>
              </a:spcBef>
              <a:defRPr sz="1000">
                <a:solidFill>
                  <a:srgbClr val="C8D2CD"/>
                </a:solidFill>
                <a:latin typeface="Calibri"/>
              </a:defRPr>
            </a:pPr>
            <a:r>
              <a:t>Ranked buyer candidates, automated sample request, verified offer, and BRSR chain of custody.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728655" cy="68580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050">
                <a:solidFill>
                  <a:srgbClr val="FFFFFF"/>
                </a:solidFill>
                <a:latin typeface="Georgia"/>
              </a:defRPr>
            </a:pPr>
            <a:r>
              <a:t>SYSTEM FOUNDATION:   REACT 18 + TS   •   FASTAPI + PYDANTIC   •   SUPABASE POSTGRES + RLS   •   LEAFLET + RECHARTS   •   7 AUTOMATED TEST SUITES (100% PASS)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685800"/>
          </a:xfrm>
          <a:prstGeom prst="roundRect">
            <a:avLst/>
          </a:prstGeom>
          <a:solidFill>
            <a:srgbClr val="FEF9EB"/>
          </a:solidFill>
          <a:ln w="1524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b="1" sz="1100">
                <a:solidFill>
                  <a:srgbClr val="14241C"/>
                </a:solidFill>
                <a:latin typeface="Georgia"/>
              </a:defRPr>
            </a:pPr>
            <a:r>
              <a:t>ROADMAP INTEGRATIONS:   Computer-vision scrap grading   •   Weighbridge OCR ingestion   •   Automated CPCB / BRSR XML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alibri"/>
              </a:defRPr>
            </a:pPr>
            <a:r>
              <a:t>CIRCULARMATCH • ARCHITECTURE   •   Production Stack &amp; Deterministic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10 / EXECUTION READINESS</a:t>
            </a:r>
          </a:p>
          <a:p>
            <a:pPr>
              <a:spcBef>
                <a:spcPts val="300"/>
              </a:spcBef>
              <a:defRPr b="1" sz="2500">
                <a:solidFill>
                  <a:srgbClr val="14241C"/>
                </a:solidFill>
                <a:latin typeface="Georgia"/>
              </a:defRPr>
            </a:pPr>
            <a:r>
              <a:t>The technical core is built. Commercial proof is the next milestone.</a:t>
            </a:r>
          </a:p>
          <a:p>
            <a:pPr>
              <a:spcBef>
                <a:spcPts val="300"/>
              </a:spcBef>
              <a:defRPr sz="1250">
                <a:solidFill>
                  <a:srgbClr val="505A55"/>
                </a:solidFill>
                <a:latin typeface="Calibri"/>
              </a:defRPr>
            </a:pPr>
            <a:r>
              <a:t>CircularMatch combines product engineering, AI/data systems, and climate-tech research for enterprise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840480" cy="4160520"/>
          </a:xfrm>
          <a:prstGeom prst="roundRect">
            <a:avLst/>
          </a:prstGeom>
          <a:solidFill>
            <a:srgbClr val="14241C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l">
              <a:defRPr b="1" sz="1400">
                <a:solidFill>
                  <a:srgbClr val="B8860B"/>
                </a:solidFill>
                <a:latin typeface="Georgia"/>
              </a:defRPr>
            </a:pPr>
            <a:r>
              <a:t>CIRCULARMATCH</a:t>
            </a:r>
          </a:p>
          <a:p>
            <a:pPr algn="l">
              <a:spcBef>
                <a:spcPts val="800"/>
              </a:spcBef>
              <a:defRPr b="1" sz="2800">
                <a:solidFill>
                  <a:srgbClr val="FFFFFF"/>
                </a:solidFill>
                <a:latin typeface="Georgia"/>
              </a:defRPr>
            </a:pPr>
            <a:r>
              <a:t>SYSTEM CORE</a:t>
            </a:r>
          </a:p>
          <a:p>
            <a:pPr algn="l">
              <a:spcBef>
                <a:spcPts val="800"/>
              </a:spcBef>
              <a:defRPr sz="1200">
                <a:solidFill>
                  <a:srgbClr val="C8D2CD"/>
                </a:solidFill>
                <a:latin typeface="Calibri"/>
              </a:defRPr>
            </a:pPr>
            <a:r>
              <a:t>Modular full-stack platform built for industrial qualification, automated material passports, and statutory enterprise audit trails.</a:t>
            </a:r>
          </a:p>
          <a:p>
            <a:pPr algn="l">
              <a:spcBef>
                <a:spcPts val="1600"/>
              </a:spcBef>
              <a:defRPr b="1" sz="1000">
                <a:solidFill>
                  <a:srgbClr val="B8860B"/>
                </a:solidFill>
                <a:latin typeface="Georgia"/>
              </a:defRPr>
            </a:pPr>
            <a:r>
              <a:t>WHAT IS CURRENTLY LIVE:</a:t>
            </a:r>
          </a:p>
          <a:p>
            <a:pPr algn="l">
              <a:spcBef>
                <a:spcPts val="4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A working full-stack trusted-pilot platform deployed on circularmatch.vercel.app with complete end-to-end interactive demo 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600" y="187451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B8860B"/>
                </a:solidFill>
                <a:latin typeface="Georgia"/>
              </a:defRPr>
            </a:pPr>
            <a:r>
              <a:t>[DEV]  Product Engineering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React 18, TypeScript, FastAPI, Supabase PostgreSQL, geospatial Leaflet routing, production API contracts, and automated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292607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B8860B"/>
                </a:solidFill>
                <a:latin typeface="Georgia"/>
              </a:defRPr>
            </a:pPr>
            <a:r>
              <a:t>[AI]  Decision Systems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Gemini 2.0 Flash extraction with strict schema guardrails; transparent 100-point matching formula and hard eligibility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3977639"/>
            <a:ext cx="665683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B8860B"/>
                </a:solidFill>
                <a:latin typeface="Georgia"/>
              </a:defRPr>
            </a:pPr>
            <a:r>
              <a:t>[CLM]  Climate &amp; Compliance Research</a:t>
            </a:r>
          </a:p>
          <a:p>
            <a:pPr algn="l">
              <a:spcBef>
                <a:spcPts val="300"/>
              </a:spcBef>
              <a:defRPr sz="1050">
                <a:solidFill>
                  <a:srgbClr val="505A55"/>
                </a:solidFill>
                <a:latin typeface="Calibri"/>
              </a:defRPr>
            </a:pPr>
            <a:r>
              <a:t>ISO 59040-aligned Digital Material Passports, LCA carbon displacement methodology, and SEBI BRSR Core compliance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5029199"/>
            <a:ext cx="6656832" cy="932688"/>
          </a:xfrm>
          <a:prstGeom prst="roundRect">
            <a:avLst/>
          </a:prstGeom>
          <a:solidFill>
            <a:srgbClr val="FEF9EB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l">
              <a:defRPr b="1" sz="1300">
                <a:solidFill>
                  <a:srgbClr val="8C5F05"/>
                </a:solidFill>
                <a:latin typeface="Georgia"/>
              </a:defRPr>
            </a:pPr>
            <a:r>
              <a:t>[OPS]  Enterprise Operations &amp; Scale</a:t>
            </a:r>
          </a:p>
          <a:p>
            <a:pPr algn="l">
              <a:spcBef>
                <a:spcPts val="300"/>
              </a:spcBef>
              <a:defRPr sz="1050">
                <a:solidFill>
                  <a:srgbClr val="14241C"/>
                </a:solidFill>
                <a:latin typeface="Calibri"/>
              </a:defRPr>
            </a:pPr>
            <a:r>
              <a:t>Ground-level pilot execution, weighbridge verification protocols, and EHS regulatory alignment across NCR manufacturing hubs.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C8273"/>
                </a:solidFill>
                <a:latin typeface="Calibri"/>
              </a:defRPr>
            </a:pPr>
            <a:r>
              <a:t>CIRCULARMATCH   •   Execution Readiness &amp; Core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8C8273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50">
                <a:solidFill>
                  <a:srgbClr val="B8860B"/>
                </a:solidFill>
                <a:latin typeface="Georgia"/>
              </a:defRPr>
            </a:pPr>
            <a:r>
              <a:t>11 / THE NEXT PROOF POINT</a:t>
            </a:r>
          </a:p>
          <a:p>
            <a:pPr>
              <a:spcBef>
                <a:spcPts val="300"/>
              </a:spcBef>
              <a:defRPr b="1" sz="2500">
                <a:solidFill>
                  <a:srgbClr val="FFFFFF"/>
                </a:solidFill>
                <a:latin typeface="Georgia"/>
              </a:defRPr>
            </a:pPr>
            <a:r>
              <a:t>Help us turn the first 5 audited material flows into the network.</a:t>
            </a:r>
          </a:p>
          <a:p>
            <a:pPr>
              <a:spcBef>
                <a:spcPts val="300"/>
              </a:spcBef>
              <a:defRPr sz="1250">
                <a:solidFill>
                  <a:srgbClr val="C8D2CD"/>
                </a:solidFill>
                <a:latin typeface="Calibri"/>
              </a:defRPr>
            </a:pPr>
            <a:r>
              <a:t>The circular economy does not only need more recycling. It needs better qualification, evidence, and matching.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063240" cy="192024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01 / PILOT PARTNERS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Georgia"/>
              </a:defRPr>
            </a:pPr>
            <a:r>
              <a:t>5 NCR EHS Teams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alibri"/>
              </a:defRPr>
            </a:pPr>
            <a:r>
              <a:t>Run a 3-month managed compliance pilot on real manufacturing scrap streams.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2011680"/>
            <a:ext cx="3063240" cy="1920240"/>
          </a:xfrm>
          <a:prstGeom prst="roundRect">
            <a:avLst/>
          </a:prstGeom>
          <a:solidFill>
            <a:srgbClr val="1C3026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l">
              <a:defRPr b="1" sz="1000">
                <a:solidFill>
                  <a:srgbClr val="B8860B"/>
                </a:solidFill>
                <a:latin typeface="Georgia"/>
              </a:defRPr>
            </a:pPr>
            <a:r>
              <a:t>02 / CAPITAL + SCALE</a:t>
            </a:r>
          </a:p>
          <a:p>
            <a:pPr algn="l">
              <a:spcBef>
                <a:spcPts val="400"/>
              </a:spcBef>
              <a:defRPr b="1" sz="2000">
                <a:solidFill>
                  <a:srgbClr val="FFFFFF"/>
                </a:solidFill>
                <a:latin typeface="Georgia"/>
              </a:defRPr>
            </a:pPr>
            <a:r>
              <a:t>Pre-seed After Proof</a:t>
            </a:r>
          </a:p>
          <a:p>
            <a:pPr algn="l">
              <a:spcBef>
                <a:spcPts val="600"/>
              </a:spcBef>
              <a:defRPr sz="1100">
                <a:solidFill>
                  <a:srgbClr val="C8D2CD"/>
                </a:solidFill>
                <a:latin typeface="Calibri"/>
              </a:defRPr>
            </a:pPr>
            <a:r>
              <a:t>Trigger: 5+ transactions + 3+ paying customers • target ₹30–80L expansion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63093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600">
                <a:solidFill>
                  <a:srgbClr val="B8860B"/>
                </a:solidFill>
                <a:latin typeface="Georgia"/>
              </a:defRPr>
            </a:pPr>
            <a:r>
              <a:t>TURN WASTE INTO QUALIFIED VALUE.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  <a:latin typeface="Calibri"/>
              </a:defRPr>
            </a:pPr>
            <a:r>
              <a:t>Join us in transforming industrial discard streams into transparent, auditable secondary material supply chains.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144975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72768"/>
            <a:ext cx="4144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b="1" sz="1300">
                <a:solidFill>
                  <a:srgbClr val="B8860B"/>
                </a:solidFill>
                <a:latin typeface="Georgia"/>
              </a:defRPr>
            </a:pPr>
            <a:r>
              <a:t>TRY THE LIVE PRODUCT</a:t>
            </a:r>
          </a:p>
        </p:txBody>
      </p:sp>
      <p:pic>
        <p:nvPicPr>
          <p:cNvPr id="9" name="Picture 8" descr="qr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29968"/>
            <a:ext cx="2039112" cy="2039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0" y="4206240"/>
            <a:ext cx="396209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600">
                <a:solidFill>
                  <a:srgbClr val="0F172A"/>
                </a:solidFill>
                <a:latin typeface="Georgia"/>
              </a:defRPr>
            </a:pPr>
            <a:r>
              <a:t>circularmatch.vercel.app</a:t>
            </a:r>
          </a:p>
          <a:p>
            <a:pPr algn="ctr">
              <a:spcBef>
                <a:spcPts val="800"/>
              </a:spcBef>
              <a:defRPr b="1" sz="950">
                <a:solidFill>
                  <a:srgbClr val="B8860B"/>
                </a:solidFill>
                <a:latin typeface="Georgia"/>
              </a:defRPr>
            </a:pPr>
            <a:r>
              <a:t>CODE &amp; TECHNICAL PROOF</a:t>
            </a:r>
          </a:p>
          <a:p>
            <a:pPr algn="ctr">
              <a:spcBef>
                <a:spcPts val="200"/>
              </a:spcBef>
              <a:defRPr b="1" sz="1200">
                <a:solidFill>
                  <a:srgbClr val="B8860B"/>
                </a:solidFill>
                <a:latin typeface="Georgia"/>
              </a:defRPr>
            </a:pPr>
            <a:r>
              <a:t>github.com/circularmatch</a:t>
            </a:r>
          </a:p>
          <a:p>
            <a:pPr algn="ctr">
              <a:spcBef>
                <a:spcPts val="500"/>
              </a:spcBef>
              <a:defRPr sz="900">
                <a:solidFill>
                  <a:srgbClr val="8C8273"/>
                </a:solidFill>
                <a:latin typeface="Calibri"/>
              </a:defRPr>
            </a:pPr>
            <a:r>
              <a:t>Interactive demo environment with isolated mock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96A09B"/>
                </a:solidFill>
                <a:latin typeface="Calibri"/>
              </a:defRPr>
            </a:pPr>
            <a:r>
              <a:t>CIRCULARMATCH   •   Live Demo &amp; Architecture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27648"/>
            <a:ext cx="277337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50" b="1">
                <a:solidFill>
                  <a:srgbClr val="96A09B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